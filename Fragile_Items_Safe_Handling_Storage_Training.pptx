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0040" y="0"/>
            <a:ext cx="109728" cy="6858000"/>
          </a:xfrm>
          <a:prstGeom prst="rect">
            <a:avLst/>
          </a:prstGeom>
          <a:solidFill>
            <a:srgbClr val="C47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10058400" cy="365760"/>
          </a:xfrm>
          <a:prstGeom prst="rect">
            <a:avLst/>
          </a:prstGeom>
          <a:noFill/>
        </p:spPr>
        <p:txBody>
          <a:bodyPr wrap="square">
            <a:spAutoFit/>
          </a:bodyPr>
          <a:lstStyle/>
          <a:p>
            <a:pPr algn="l"/>
            <a:r>
              <a:rPr sz="1400" b="1">
                <a:solidFill>
                  <a:srgbClr val="1A6B6B"/>
                </a:solidFill>
                <a:latin typeface="Calibri"/>
              </a:rPr>
              <a:t>SITE SAFETY / TOOLBOX TRAINING</a:t>
            </a:r>
          </a:p>
        </p:txBody>
      </p:sp>
      <p:sp>
        <p:nvSpPr>
          <p:cNvPr id="6" name="TextBox 5"/>
          <p:cNvSpPr txBox="1"/>
          <p:nvPr/>
        </p:nvSpPr>
        <p:spPr>
          <a:xfrm>
            <a:off x="914400" y="1920240"/>
            <a:ext cx="10058400" cy="1097280"/>
          </a:xfrm>
          <a:prstGeom prst="rect">
            <a:avLst/>
          </a:prstGeom>
          <a:noFill/>
        </p:spPr>
        <p:txBody>
          <a:bodyPr wrap="square">
            <a:spAutoFit/>
          </a:bodyPr>
          <a:lstStyle/>
          <a:p>
            <a:pPr algn="l"/>
            <a:r>
              <a:rPr sz="3600" b="1">
                <a:solidFill>
                  <a:srgbClr val="0F2A44"/>
                </a:solidFill>
                <a:latin typeface="Calibri"/>
              </a:rPr>
              <a:t>Fragile Items – Safe Handling
&amp; Storage Training</a:t>
            </a:r>
          </a:p>
        </p:txBody>
      </p:sp>
      <p:sp>
        <p:nvSpPr>
          <p:cNvPr id="7" name="Rectangle 6"/>
          <p:cNvSpPr/>
          <p:nvPr/>
        </p:nvSpPr>
        <p:spPr>
          <a:xfrm>
            <a:off x="914400" y="3246120"/>
            <a:ext cx="2011680" cy="64008"/>
          </a:xfrm>
          <a:prstGeom prst="rect">
            <a:avLst/>
          </a:prstGeom>
          <a:solidFill>
            <a:srgbClr val="C47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566160"/>
            <a:ext cx="7315200" cy="1371600"/>
          </a:xfrm>
          <a:prstGeom prst="rect">
            <a:avLst/>
          </a:prstGeom>
          <a:noFill/>
        </p:spPr>
        <p:txBody>
          <a:bodyPr wrap="square">
            <a:spAutoFit/>
          </a:bodyPr>
          <a:lstStyle/>
          <a:p>
            <a:pPr algn="l">
              <a:spcAft>
                <a:spcPts val="800"/>
              </a:spcAft>
            </a:pPr>
            <a:r>
              <a:rPr sz="1600" b="0">
                <a:solidFill>
                  <a:srgbClr val="1F3A56"/>
                </a:solidFill>
                <a:latin typeface="Calibri"/>
              </a:rPr>
              <a:t>▸  Target Team: Civil Team</a:t>
            </a:r>
          </a:p>
          <a:p>
            <a:pPr algn="l">
              <a:spcAft>
                <a:spcPts val="800"/>
              </a:spcAft>
            </a:pPr>
            <a:r>
              <a:rPr sz="1600" b="0">
                <a:solidFill>
                  <a:srgbClr val="1F3A56"/>
                </a:solidFill>
                <a:latin typeface="Calibri"/>
              </a:rPr>
              <a:t>▸  Duration: 30–45 Minutes</a:t>
            </a:r>
          </a:p>
          <a:p>
            <a:pPr algn="l">
              <a:spcAft>
                <a:spcPts val="800"/>
              </a:spcAft>
            </a:pPr>
            <a:r>
              <a:rPr sz="1600" b="0">
                <a:solidFill>
                  <a:srgbClr val="1F3A56"/>
                </a:solidFill>
                <a:latin typeface="Calibri"/>
              </a:rPr>
              <a:t>▸  Training Type: Toolbox / Site Safety Training</a:t>
            </a:r>
          </a:p>
        </p:txBody>
      </p:sp>
      <p:sp>
        <p:nvSpPr>
          <p:cNvPr id="9" name="Rectangle 8"/>
          <p:cNvSpPr/>
          <p:nvPr/>
        </p:nvSpPr>
        <p:spPr>
          <a:xfrm>
            <a:off x="8412480" y="3931920"/>
            <a:ext cx="3200400" cy="2103120"/>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0" y="4663440"/>
            <a:ext cx="3200400" cy="640080"/>
          </a:xfrm>
          <a:prstGeom prst="rect">
            <a:avLst/>
          </a:prstGeom>
          <a:noFill/>
        </p:spPr>
        <p:txBody>
          <a:bodyPr wrap="square">
            <a:spAutoFit/>
          </a:bodyPr>
          <a:lstStyle/>
          <a:p>
            <a:pPr algn="ctr"/>
            <a:r>
              <a:rPr sz="1200" b="0">
                <a:solidFill>
                  <a:srgbClr val="5A6A7A"/>
                </a:solidFill>
                <a:latin typeface="Calibri"/>
              </a:rPr>
              <a:t>[ Image Placeholder ]
Civil site / materials photo</a:t>
            </a:r>
          </a:p>
        </p:txBody>
      </p:sp>
      <p:sp>
        <p:nvSpPr>
          <p:cNvPr id="11" name="TextBox 10"/>
          <p:cNvSpPr txBox="1"/>
          <p:nvPr/>
        </p:nvSpPr>
        <p:spPr>
          <a:xfrm>
            <a:off x="914400" y="6217920"/>
            <a:ext cx="7315200" cy="274320"/>
          </a:xfrm>
          <a:prstGeom prst="rect">
            <a:avLst/>
          </a:prstGeom>
          <a:noFill/>
        </p:spPr>
        <p:txBody>
          <a:bodyPr wrap="square">
            <a:spAutoFit/>
          </a:bodyPr>
          <a:lstStyle/>
          <a:p>
            <a:pPr algn="l"/>
            <a:r>
              <a:rPr sz="1100" b="0">
                <a:solidFill>
                  <a:srgbClr val="5A6A7A"/>
                </a:solidFill>
                <a:latin typeface="Calibri"/>
              </a:rPr>
              <a:t>Insert company logo / project name in header area when editing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73152"/>
          </a:xfrm>
          <a:prstGeom prst="rect">
            <a:avLst/>
          </a:prstGeom>
          <a:solidFill>
            <a:srgbClr val="C47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0972800" cy="457200"/>
          </a:xfrm>
          <a:prstGeom prst="rect">
            <a:avLst/>
          </a:prstGeom>
          <a:noFill/>
        </p:spPr>
        <p:txBody>
          <a:bodyPr wrap="square">
            <a:spAutoFit/>
          </a:bodyPr>
          <a:lstStyle/>
          <a:p>
            <a:pPr algn="l"/>
            <a:r>
              <a:rPr sz="2600" b="1">
                <a:solidFill>
                  <a:srgbClr val="FFFFFF"/>
                </a:solidFill>
                <a:latin typeface="Calibri"/>
              </a:rPr>
              <a:t>Training Agenda</a:t>
            </a:r>
          </a:p>
        </p:txBody>
      </p:sp>
      <p:sp>
        <p:nvSpPr>
          <p:cNvPr id="6" name="TextBox 5"/>
          <p:cNvSpPr txBox="1"/>
          <p:nvPr/>
        </p:nvSpPr>
        <p:spPr>
          <a:xfrm>
            <a:off x="457200" y="594360"/>
            <a:ext cx="10972800" cy="320040"/>
          </a:xfrm>
          <a:prstGeom prst="rect">
            <a:avLst/>
          </a:prstGeom>
          <a:noFill/>
        </p:spPr>
        <p:txBody>
          <a:bodyPr wrap="square">
            <a:spAutoFit/>
          </a:bodyPr>
          <a:lstStyle/>
          <a:p>
            <a:pPr algn="l"/>
            <a:r>
              <a:rPr sz="1200" b="0">
                <a:solidFill>
                  <a:srgbClr val="C8D5E0"/>
                </a:solidFill>
                <a:latin typeface="Calibri"/>
              </a:rPr>
              <a:t>30–45 minutes structured session</a:t>
            </a:r>
          </a:p>
        </p:txBody>
      </p:sp>
      <p:sp>
        <p:nvSpPr>
          <p:cNvPr id="7" name="Rectangle 6"/>
          <p:cNvSpPr/>
          <p:nvPr/>
        </p:nvSpPr>
        <p:spPr>
          <a:xfrm>
            <a:off x="548640" y="1234440"/>
            <a:ext cx="502920" cy="384048"/>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280160"/>
            <a:ext cx="502920" cy="320040"/>
          </a:xfrm>
          <a:prstGeom prst="rect">
            <a:avLst/>
          </a:prstGeom>
          <a:noFill/>
        </p:spPr>
        <p:txBody>
          <a:bodyPr wrap="square">
            <a:spAutoFit/>
          </a:bodyPr>
          <a:lstStyle/>
          <a:p>
            <a:pPr algn="ctr"/>
            <a:r>
              <a:rPr sz="1200" b="1">
                <a:solidFill>
                  <a:srgbClr val="FFFFFF"/>
                </a:solidFill>
                <a:latin typeface="Calibri"/>
              </a:rPr>
              <a:t>01</a:t>
            </a:r>
          </a:p>
        </p:txBody>
      </p:sp>
      <p:sp>
        <p:nvSpPr>
          <p:cNvPr id="9" name="TextBox 8"/>
          <p:cNvSpPr txBox="1"/>
          <p:nvPr/>
        </p:nvSpPr>
        <p:spPr>
          <a:xfrm>
            <a:off x="1234440" y="1280160"/>
            <a:ext cx="8229600" cy="320040"/>
          </a:xfrm>
          <a:prstGeom prst="rect">
            <a:avLst/>
          </a:prstGeom>
          <a:noFill/>
        </p:spPr>
        <p:txBody>
          <a:bodyPr wrap="square">
            <a:spAutoFit/>
          </a:bodyPr>
          <a:lstStyle/>
          <a:p>
            <a:pPr algn="l"/>
            <a:r>
              <a:rPr sz="1500" b="0">
                <a:solidFill>
                  <a:srgbClr val="1A1A1A"/>
                </a:solidFill>
                <a:latin typeface="Calibri"/>
              </a:rPr>
              <a:t>Introduction &amp; Objective</a:t>
            </a:r>
          </a:p>
        </p:txBody>
      </p:sp>
      <p:sp>
        <p:nvSpPr>
          <p:cNvPr id="10" name="TextBox 9"/>
          <p:cNvSpPr txBox="1"/>
          <p:nvPr/>
        </p:nvSpPr>
        <p:spPr>
          <a:xfrm>
            <a:off x="10241280" y="1280160"/>
            <a:ext cx="1280160" cy="320040"/>
          </a:xfrm>
          <a:prstGeom prst="rect">
            <a:avLst/>
          </a:prstGeom>
          <a:noFill/>
        </p:spPr>
        <p:txBody>
          <a:bodyPr wrap="square">
            <a:spAutoFit/>
          </a:bodyPr>
          <a:lstStyle/>
          <a:p>
            <a:pPr algn="r"/>
            <a:r>
              <a:rPr sz="1400" b="1">
                <a:solidFill>
                  <a:srgbClr val="1A6B6B"/>
                </a:solidFill>
                <a:latin typeface="Calibri"/>
              </a:rPr>
              <a:t>5 Min</a:t>
            </a:r>
          </a:p>
        </p:txBody>
      </p:sp>
      <p:sp>
        <p:nvSpPr>
          <p:cNvPr id="11" name="Rectangle 10"/>
          <p:cNvSpPr/>
          <p:nvPr/>
        </p:nvSpPr>
        <p:spPr>
          <a:xfrm>
            <a:off x="548640" y="1737360"/>
            <a:ext cx="502920" cy="384048"/>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783080"/>
            <a:ext cx="502920" cy="320040"/>
          </a:xfrm>
          <a:prstGeom prst="rect">
            <a:avLst/>
          </a:prstGeom>
          <a:noFill/>
        </p:spPr>
        <p:txBody>
          <a:bodyPr wrap="square">
            <a:spAutoFit/>
          </a:bodyPr>
          <a:lstStyle/>
          <a:p>
            <a:pPr algn="ctr"/>
            <a:r>
              <a:rPr sz="1200" b="1">
                <a:solidFill>
                  <a:srgbClr val="FFFFFF"/>
                </a:solidFill>
                <a:latin typeface="Calibri"/>
              </a:rPr>
              <a:t>02</a:t>
            </a:r>
          </a:p>
        </p:txBody>
      </p:sp>
      <p:sp>
        <p:nvSpPr>
          <p:cNvPr id="13" name="TextBox 12"/>
          <p:cNvSpPr txBox="1"/>
          <p:nvPr/>
        </p:nvSpPr>
        <p:spPr>
          <a:xfrm>
            <a:off x="1234440" y="1783080"/>
            <a:ext cx="8229600" cy="320040"/>
          </a:xfrm>
          <a:prstGeom prst="rect">
            <a:avLst/>
          </a:prstGeom>
          <a:noFill/>
        </p:spPr>
        <p:txBody>
          <a:bodyPr wrap="square">
            <a:spAutoFit/>
          </a:bodyPr>
          <a:lstStyle/>
          <a:p>
            <a:pPr algn="l"/>
            <a:r>
              <a:rPr sz="1500" b="0">
                <a:solidFill>
                  <a:srgbClr val="1A1A1A"/>
                </a:solidFill>
                <a:latin typeface="Calibri"/>
              </a:rPr>
              <a:t>What are Fragile Items?</a:t>
            </a:r>
          </a:p>
        </p:txBody>
      </p:sp>
      <p:sp>
        <p:nvSpPr>
          <p:cNvPr id="14" name="TextBox 13"/>
          <p:cNvSpPr txBox="1"/>
          <p:nvPr/>
        </p:nvSpPr>
        <p:spPr>
          <a:xfrm>
            <a:off x="10241280" y="1783080"/>
            <a:ext cx="1280160" cy="320040"/>
          </a:xfrm>
          <a:prstGeom prst="rect">
            <a:avLst/>
          </a:prstGeom>
          <a:noFill/>
        </p:spPr>
        <p:txBody>
          <a:bodyPr wrap="square">
            <a:spAutoFit/>
          </a:bodyPr>
          <a:lstStyle/>
          <a:p>
            <a:pPr algn="r"/>
            <a:r>
              <a:rPr sz="1400" b="1">
                <a:solidFill>
                  <a:srgbClr val="1A6B6B"/>
                </a:solidFill>
                <a:latin typeface="Calibri"/>
              </a:rPr>
              <a:t>5 Min</a:t>
            </a:r>
          </a:p>
        </p:txBody>
      </p:sp>
      <p:sp>
        <p:nvSpPr>
          <p:cNvPr id="15" name="Rectangle 14"/>
          <p:cNvSpPr/>
          <p:nvPr/>
        </p:nvSpPr>
        <p:spPr>
          <a:xfrm>
            <a:off x="548640" y="2240280"/>
            <a:ext cx="502920" cy="384048"/>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286000"/>
            <a:ext cx="502920" cy="320040"/>
          </a:xfrm>
          <a:prstGeom prst="rect">
            <a:avLst/>
          </a:prstGeom>
          <a:noFill/>
        </p:spPr>
        <p:txBody>
          <a:bodyPr wrap="square">
            <a:spAutoFit/>
          </a:bodyPr>
          <a:lstStyle/>
          <a:p>
            <a:pPr algn="ctr"/>
            <a:r>
              <a:rPr sz="1200" b="1">
                <a:solidFill>
                  <a:srgbClr val="FFFFFF"/>
                </a:solidFill>
                <a:latin typeface="Calibri"/>
              </a:rPr>
              <a:t>03</a:t>
            </a:r>
          </a:p>
        </p:txBody>
      </p:sp>
      <p:sp>
        <p:nvSpPr>
          <p:cNvPr id="17" name="TextBox 16"/>
          <p:cNvSpPr txBox="1"/>
          <p:nvPr/>
        </p:nvSpPr>
        <p:spPr>
          <a:xfrm>
            <a:off x="1234440" y="2286000"/>
            <a:ext cx="8229600" cy="320040"/>
          </a:xfrm>
          <a:prstGeom prst="rect">
            <a:avLst/>
          </a:prstGeom>
          <a:noFill/>
        </p:spPr>
        <p:txBody>
          <a:bodyPr wrap="square">
            <a:spAutoFit/>
          </a:bodyPr>
          <a:lstStyle/>
          <a:p>
            <a:pPr algn="l"/>
            <a:r>
              <a:rPr sz="1500" b="0">
                <a:solidFill>
                  <a:srgbClr val="1A1A1A"/>
                </a:solidFill>
                <a:latin typeface="Calibri"/>
              </a:rPr>
              <a:t>Identification of Fragile Materials at Site</a:t>
            </a:r>
          </a:p>
        </p:txBody>
      </p:sp>
      <p:sp>
        <p:nvSpPr>
          <p:cNvPr id="18" name="TextBox 17"/>
          <p:cNvSpPr txBox="1"/>
          <p:nvPr/>
        </p:nvSpPr>
        <p:spPr>
          <a:xfrm>
            <a:off x="10241280" y="2286000"/>
            <a:ext cx="1280160" cy="320040"/>
          </a:xfrm>
          <a:prstGeom prst="rect">
            <a:avLst/>
          </a:prstGeom>
          <a:noFill/>
        </p:spPr>
        <p:txBody>
          <a:bodyPr wrap="square">
            <a:spAutoFit/>
          </a:bodyPr>
          <a:lstStyle/>
          <a:p>
            <a:pPr algn="r"/>
            <a:r>
              <a:rPr sz="1400" b="1">
                <a:solidFill>
                  <a:srgbClr val="1A6B6B"/>
                </a:solidFill>
                <a:latin typeface="Calibri"/>
              </a:rPr>
              <a:t>5 Min</a:t>
            </a:r>
          </a:p>
        </p:txBody>
      </p:sp>
      <p:sp>
        <p:nvSpPr>
          <p:cNvPr id="19" name="Rectangle 18"/>
          <p:cNvSpPr/>
          <p:nvPr/>
        </p:nvSpPr>
        <p:spPr>
          <a:xfrm>
            <a:off x="548640" y="2743200"/>
            <a:ext cx="502920" cy="384048"/>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2788920"/>
            <a:ext cx="502920" cy="320040"/>
          </a:xfrm>
          <a:prstGeom prst="rect">
            <a:avLst/>
          </a:prstGeom>
          <a:noFill/>
        </p:spPr>
        <p:txBody>
          <a:bodyPr wrap="square">
            <a:spAutoFit/>
          </a:bodyPr>
          <a:lstStyle/>
          <a:p>
            <a:pPr algn="ctr"/>
            <a:r>
              <a:rPr sz="1200" b="1">
                <a:solidFill>
                  <a:srgbClr val="FFFFFF"/>
                </a:solidFill>
                <a:latin typeface="Calibri"/>
              </a:rPr>
              <a:t>04</a:t>
            </a:r>
          </a:p>
        </p:txBody>
      </p:sp>
      <p:sp>
        <p:nvSpPr>
          <p:cNvPr id="21" name="TextBox 20"/>
          <p:cNvSpPr txBox="1"/>
          <p:nvPr/>
        </p:nvSpPr>
        <p:spPr>
          <a:xfrm>
            <a:off x="1234440" y="2788920"/>
            <a:ext cx="8229600" cy="320040"/>
          </a:xfrm>
          <a:prstGeom prst="rect">
            <a:avLst/>
          </a:prstGeom>
          <a:noFill/>
        </p:spPr>
        <p:txBody>
          <a:bodyPr wrap="square">
            <a:spAutoFit/>
          </a:bodyPr>
          <a:lstStyle/>
          <a:p>
            <a:pPr algn="l"/>
            <a:r>
              <a:rPr sz="1500" b="0">
                <a:solidFill>
                  <a:srgbClr val="1A1A1A"/>
                </a:solidFill>
                <a:latin typeface="Calibri"/>
              </a:rPr>
              <a:t>Correct Handling &amp; Lifting Methods</a:t>
            </a:r>
          </a:p>
        </p:txBody>
      </p:sp>
      <p:sp>
        <p:nvSpPr>
          <p:cNvPr id="22" name="TextBox 21"/>
          <p:cNvSpPr txBox="1"/>
          <p:nvPr/>
        </p:nvSpPr>
        <p:spPr>
          <a:xfrm>
            <a:off x="10241280" y="2788920"/>
            <a:ext cx="1280160" cy="320040"/>
          </a:xfrm>
          <a:prstGeom prst="rect">
            <a:avLst/>
          </a:prstGeom>
          <a:noFill/>
        </p:spPr>
        <p:txBody>
          <a:bodyPr wrap="square">
            <a:spAutoFit/>
          </a:bodyPr>
          <a:lstStyle/>
          <a:p>
            <a:pPr algn="r"/>
            <a:r>
              <a:rPr sz="1400" b="1">
                <a:solidFill>
                  <a:srgbClr val="1A6B6B"/>
                </a:solidFill>
                <a:latin typeface="Calibri"/>
              </a:rPr>
              <a:t>10 Min</a:t>
            </a:r>
          </a:p>
        </p:txBody>
      </p:sp>
      <p:sp>
        <p:nvSpPr>
          <p:cNvPr id="23" name="Rectangle 22"/>
          <p:cNvSpPr/>
          <p:nvPr/>
        </p:nvSpPr>
        <p:spPr>
          <a:xfrm>
            <a:off x="548640" y="3246120"/>
            <a:ext cx="502920" cy="384048"/>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291839"/>
            <a:ext cx="502920" cy="320040"/>
          </a:xfrm>
          <a:prstGeom prst="rect">
            <a:avLst/>
          </a:prstGeom>
          <a:noFill/>
        </p:spPr>
        <p:txBody>
          <a:bodyPr wrap="square">
            <a:spAutoFit/>
          </a:bodyPr>
          <a:lstStyle/>
          <a:p>
            <a:pPr algn="ctr"/>
            <a:r>
              <a:rPr sz="1200" b="1">
                <a:solidFill>
                  <a:srgbClr val="FFFFFF"/>
                </a:solidFill>
                <a:latin typeface="Calibri"/>
              </a:rPr>
              <a:t>05</a:t>
            </a:r>
          </a:p>
        </p:txBody>
      </p:sp>
      <p:sp>
        <p:nvSpPr>
          <p:cNvPr id="25" name="TextBox 24"/>
          <p:cNvSpPr txBox="1"/>
          <p:nvPr/>
        </p:nvSpPr>
        <p:spPr>
          <a:xfrm>
            <a:off x="1234440" y="3291839"/>
            <a:ext cx="8229600" cy="320040"/>
          </a:xfrm>
          <a:prstGeom prst="rect">
            <a:avLst/>
          </a:prstGeom>
          <a:noFill/>
        </p:spPr>
        <p:txBody>
          <a:bodyPr wrap="square">
            <a:spAutoFit/>
          </a:bodyPr>
          <a:lstStyle/>
          <a:p>
            <a:pPr algn="l"/>
            <a:r>
              <a:rPr sz="1500" b="0">
                <a:solidFill>
                  <a:srgbClr val="1A1A1A"/>
                </a:solidFill>
                <a:latin typeface="Calibri"/>
              </a:rPr>
              <a:t>Transportation &amp; Movement of Fragile Items</a:t>
            </a:r>
          </a:p>
        </p:txBody>
      </p:sp>
      <p:sp>
        <p:nvSpPr>
          <p:cNvPr id="26" name="TextBox 25"/>
          <p:cNvSpPr txBox="1"/>
          <p:nvPr/>
        </p:nvSpPr>
        <p:spPr>
          <a:xfrm>
            <a:off x="10241280" y="3291839"/>
            <a:ext cx="1280160" cy="320040"/>
          </a:xfrm>
          <a:prstGeom prst="rect">
            <a:avLst/>
          </a:prstGeom>
          <a:noFill/>
        </p:spPr>
        <p:txBody>
          <a:bodyPr wrap="square">
            <a:spAutoFit/>
          </a:bodyPr>
          <a:lstStyle/>
          <a:p>
            <a:pPr algn="r"/>
            <a:r>
              <a:rPr sz="1400" b="1">
                <a:solidFill>
                  <a:srgbClr val="1A6B6B"/>
                </a:solidFill>
                <a:latin typeface="Calibri"/>
              </a:rPr>
              <a:t>5 Min</a:t>
            </a:r>
          </a:p>
        </p:txBody>
      </p:sp>
      <p:sp>
        <p:nvSpPr>
          <p:cNvPr id="27" name="Rectangle 26"/>
          <p:cNvSpPr/>
          <p:nvPr/>
        </p:nvSpPr>
        <p:spPr>
          <a:xfrm>
            <a:off x="548640" y="3749039"/>
            <a:ext cx="502920" cy="384048"/>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3794759"/>
            <a:ext cx="502920" cy="320040"/>
          </a:xfrm>
          <a:prstGeom prst="rect">
            <a:avLst/>
          </a:prstGeom>
          <a:noFill/>
        </p:spPr>
        <p:txBody>
          <a:bodyPr wrap="square">
            <a:spAutoFit/>
          </a:bodyPr>
          <a:lstStyle/>
          <a:p>
            <a:pPr algn="ctr"/>
            <a:r>
              <a:rPr sz="1200" b="1">
                <a:solidFill>
                  <a:srgbClr val="FFFFFF"/>
                </a:solidFill>
                <a:latin typeface="Calibri"/>
              </a:rPr>
              <a:t>06</a:t>
            </a:r>
          </a:p>
        </p:txBody>
      </p:sp>
      <p:sp>
        <p:nvSpPr>
          <p:cNvPr id="29" name="TextBox 28"/>
          <p:cNvSpPr txBox="1"/>
          <p:nvPr/>
        </p:nvSpPr>
        <p:spPr>
          <a:xfrm>
            <a:off x="1234440" y="3794759"/>
            <a:ext cx="8229600" cy="320040"/>
          </a:xfrm>
          <a:prstGeom prst="rect">
            <a:avLst/>
          </a:prstGeom>
          <a:noFill/>
        </p:spPr>
        <p:txBody>
          <a:bodyPr wrap="square">
            <a:spAutoFit/>
          </a:bodyPr>
          <a:lstStyle/>
          <a:p>
            <a:pPr algn="l"/>
            <a:r>
              <a:rPr sz="1500" b="0">
                <a:solidFill>
                  <a:srgbClr val="1A1A1A"/>
                </a:solidFill>
                <a:latin typeface="Calibri"/>
              </a:rPr>
              <a:t>Storage &amp; Stacking Requirements</a:t>
            </a:r>
          </a:p>
        </p:txBody>
      </p:sp>
      <p:sp>
        <p:nvSpPr>
          <p:cNvPr id="30" name="TextBox 29"/>
          <p:cNvSpPr txBox="1"/>
          <p:nvPr/>
        </p:nvSpPr>
        <p:spPr>
          <a:xfrm>
            <a:off x="10241280" y="3794759"/>
            <a:ext cx="1280160" cy="320040"/>
          </a:xfrm>
          <a:prstGeom prst="rect">
            <a:avLst/>
          </a:prstGeom>
          <a:noFill/>
        </p:spPr>
        <p:txBody>
          <a:bodyPr wrap="square">
            <a:spAutoFit/>
          </a:bodyPr>
          <a:lstStyle/>
          <a:p>
            <a:pPr algn="r"/>
            <a:r>
              <a:rPr sz="1400" b="1">
                <a:solidFill>
                  <a:srgbClr val="1A6B6B"/>
                </a:solidFill>
                <a:latin typeface="Calibri"/>
              </a:rPr>
              <a:t>5 Min</a:t>
            </a:r>
          </a:p>
        </p:txBody>
      </p:sp>
      <p:sp>
        <p:nvSpPr>
          <p:cNvPr id="31" name="Rectangle 30"/>
          <p:cNvSpPr/>
          <p:nvPr/>
        </p:nvSpPr>
        <p:spPr>
          <a:xfrm>
            <a:off x="548640" y="4251959"/>
            <a:ext cx="502920" cy="384048"/>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4297679"/>
            <a:ext cx="502920" cy="320040"/>
          </a:xfrm>
          <a:prstGeom prst="rect">
            <a:avLst/>
          </a:prstGeom>
          <a:noFill/>
        </p:spPr>
        <p:txBody>
          <a:bodyPr wrap="square">
            <a:spAutoFit/>
          </a:bodyPr>
          <a:lstStyle/>
          <a:p>
            <a:pPr algn="ctr"/>
            <a:r>
              <a:rPr sz="1200" b="1">
                <a:solidFill>
                  <a:srgbClr val="FFFFFF"/>
                </a:solidFill>
                <a:latin typeface="Calibri"/>
              </a:rPr>
              <a:t>07</a:t>
            </a:r>
          </a:p>
        </p:txBody>
      </p:sp>
      <p:sp>
        <p:nvSpPr>
          <p:cNvPr id="33" name="TextBox 32"/>
          <p:cNvSpPr txBox="1"/>
          <p:nvPr/>
        </p:nvSpPr>
        <p:spPr>
          <a:xfrm>
            <a:off x="1234440" y="4297679"/>
            <a:ext cx="8229600" cy="320040"/>
          </a:xfrm>
          <a:prstGeom prst="rect">
            <a:avLst/>
          </a:prstGeom>
          <a:noFill/>
        </p:spPr>
        <p:txBody>
          <a:bodyPr wrap="square">
            <a:spAutoFit/>
          </a:bodyPr>
          <a:lstStyle/>
          <a:p>
            <a:pPr algn="l"/>
            <a:r>
              <a:rPr sz="1500" b="0">
                <a:solidFill>
                  <a:srgbClr val="1A1A1A"/>
                </a:solidFill>
                <a:latin typeface="Calibri"/>
              </a:rPr>
              <a:t>Do's &amp; Don'ts</a:t>
            </a:r>
          </a:p>
        </p:txBody>
      </p:sp>
      <p:sp>
        <p:nvSpPr>
          <p:cNvPr id="34" name="TextBox 33"/>
          <p:cNvSpPr txBox="1"/>
          <p:nvPr/>
        </p:nvSpPr>
        <p:spPr>
          <a:xfrm>
            <a:off x="10241280" y="4297679"/>
            <a:ext cx="1280160" cy="320040"/>
          </a:xfrm>
          <a:prstGeom prst="rect">
            <a:avLst/>
          </a:prstGeom>
          <a:noFill/>
        </p:spPr>
        <p:txBody>
          <a:bodyPr wrap="square">
            <a:spAutoFit/>
          </a:bodyPr>
          <a:lstStyle/>
          <a:p>
            <a:pPr algn="r"/>
            <a:r>
              <a:rPr sz="1400" b="1">
                <a:solidFill>
                  <a:srgbClr val="1A6B6B"/>
                </a:solidFill>
                <a:latin typeface="Calibri"/>
              </a:rPr>
              <a:t>5 Min</a:t>
            </a:r>
          </a:p>
        </p:txBody>
      </p:sp>
      <p:sp>
        <p:nvSpPr>
          <p:cNvPr id="35" name="Rectangle 34"/>
          <p:cNvSpPr/>
          <p:nvPr/>
        </p:nvSpPr>
        <p:spPr>
          <a:xfrm>
            <a:off x="548640" y="4754879"/>
            <a:ext cx="502920" cy="384048"/>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4800599"/>
            <a:ext cx="502920" cy="320040"/>
          </a:xfrm>
          <a:prstGeom prst="rect">
            <a:avLst/>
          </a:prstGeom>
          <a:noFill/>
        </p:spPr>
        <p:txBody>
          <a:bodyPr wrap="square">
            <a:spAutoFit/>
          </a:bodyPr>
          <a:lstStyle/>
          <a:p>
            <a:pPr algn="ctr"/>
            <a:r>
              <a:rPr sz="1200" b="1">
                <a:solidFill>
                  <a:srgbClr val="FFFFFF"/>
                </a:solidFill>
                <a:latin typeface="Calibri"/>
              </a:rPr>
              <a:t>08</a:t>
            </a:r>
          </a:p>
        </p:txBody>
      </p:sp>
      <p:sp>
        <p:nvSpPr>
          <p:cNvPr id="37" name="TextBox 36"/>
          <p:cNvSpPr txBox="1"/>
          <p:nvPr/>
        </p:nvSpPr>
        <p:spPr>
          <a:xfrm>
            <a:off x="1234440" y="4800599"/>
            <a:ext cx="8229600" cy="320040"/>
          </a:xfrm>
          <a:prstGeom prst="rect">
            <a:avLst/>
          </a:prstGeom>
          <a:noFill/>
        </p:spPr>
        <p:txBody>
          <a:bodyPr wrap="square">
            <a:spAutoFit/>
          </a:bodyPr>
          <a:lstStyle/>
          <a:p>
            <a:pPr algn="l"/>
            <a:r>
              <a:rPr sz="1500" b="0">
                <a:solidFill>
                  <a:srgbClr val="1A1A1A"/>
                </a:solidFill>
                <a:latin typeface="Calibri"/>
              </a:rPr>
              <a:t>Practical Demonstration</a:t>
            </a:r>
          </a:p>
        </p:txBody>
      </p:sp>
      <p:sp>
        <p:nvSpPr>
          <p:cNvPr id="38" name="TextBox 37"/>
          <p:cNvSpPr txBox="1"/>
          <p:nvPr/>
        </p:nvSpPr>
        <p:spPr>
          <a:xfrm>
            <a:off x="10241280" y="4800599"/>
            <a:ext cx="1280160" cy="320040"/>
          </a:xfrm>
          <a:prstGeom prst="rect">
            <a:avLst/>
          </a:prstGeom>
          <a:noFill/>
        </p:spPr>
        <p:txBody>
          <a:bodyPr wrap="square">
            <a:spAutoFit/>
          </a:bodyPr>
          <a:lstStyle/>
          <a:p>
            <a:pPr algn="r"/>
            <a:r>
              <a:rPr sz="1400" b="1">
                <a:solidFill>
                  <a:srgbClr val="1A6B6B"/>
                </a:solidFill>
                <a:latin typeface="Calibri"/>
              </a:rPr>
              <a:t>5 Min</a:t>
            </a:r>
          </a:p>
        </p:txBody>
      </p:sp>
      <p:sp>
        <p:nvSpPr>
          <p:cNvPr id="39" name="Rectangle 38"/>
          <p:cNvSpPr/>
          <p:nvPr/>
        </p:nvSpPr>
        <p:spPr>
          <a:xfrm>
            <a:off x="548640" y="5257799"/>
            <a:ext cx="502920" cy="384048"/>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5303519"/>
            <a:ext cx="502920" cy="320040"/>
          </a:xfrm>
          <a:prstGeom prst="rect">
            <a:avLst/>
          </a:prstGeom>
          <a:noFill/>
        </p:spPr>
        <p:txBody>
          <a:bodyPr wrap="square">
            <a:spAutoFit/>
          </a:bodyPr>
          <a:lstStyle/>
          <a:p>
            <a:pPr algn="ctr"/>
            <a:r>
              <a:rPr sz="1200" b="1">
                <a:solidFill>
                  <a:srgbClr val="FFFFFF"/>
                </a:solidFill>
                <a:latin typeface="Calibri"/>
              </a:rPr>
              <a:t>09</a:t>
            </a:r>
          </a:p>
        </p:txBody>
      </p:sp>
      <p:sp>
        <p:nvSpPr>
          <p:cNvPr id="41" name="TextBox 40"/>
          <p:cNvSpPr txBox="1"/>
          <p:nvPr/>
        </p:nvSpPr>
        <p:spPr>
          <a:xfrm>
            <a:off x="1234440" y="5303519"/>
            <a:ext cx="8229600" cy="320040"/>
          </a:xfrm>
          <a:prstGeom prst="rect">
            <a:avLst/>
          </a:prstGeom>
          <a:noFill/>
        </p:spPr>
        <p:txBody>
          <a:bodyPr wrap="square">
            <a:spAutoFit/>
          </a:bodyPr>
          <a:lstStyle/>
          <a:p>
            <a:pPr algn="l"/>
            <a:r>
              <a:rPr sz="1500" b="0">
                <a:solidFill>
                  <a:srgbClr val="1A1A1A"/>
                </a:solidFill>
                <a:latin typeface="Calibri"/>
              </a:rPr>
              <a:t>Questions &amp; Feedback</a:t>
            </a:r>
          </a:p>
        </p:txBody>
      </p:sp>
      <p:sp>
        <p:nvSpPr>
          <p:cNvPr id="42" name="TextBox 41"/>
          <p:cNvSpPr txBox="1"/>
          <p:nvPr/>
        </p:nvSpPr>
        <p:spPr>
          <a:xfrm>
            <a:off x="10241280" y="5303519"/>
            <a:ext cx="1280160" cy="320040"/>
          </a:xfrm>
          <a:prstGeom prst="rect">
            <a:avLst/>
          </a:prstGeom>
          <a:noFill/>
        </p:spPr>
        <p:txBody>
          <a:bodyPr wrap="square">
            <a:spAutoFit/>
          </a:bodyPr>
          <a:lstStyle/>
          <a:p>
            <a:pPr algn="r"/>
            <a:r>
              <a:rPr sz="1400" b="1">
                <a:solidFill>
                  <a:srgbClr val="1A6B6B"/>
                </a:solidFill>
                <a:latin typeface="Calibri"/>
              </a:rPr>
              <a:t>5 Min</a:t>
            </a:r>
          </a:p>
        </p:txBody>
      </p:sp>
      <p:sp>
        <p:nvSpPr>
          <p:cNvPr id="43" name="TextBox 42"/>
          <p:cNvSpPr txBox="1"/>
          <p:nvPr/>
        </p:nvSpPr>
        <p:spPr>
          <a:xfrm>
            <a:off x="457200" y="6492240"/>
            <a:ext cx="9144000" cy="274320"/>
          </a:xfrm>
          <a:prstGeom prst="rect">
            <a:avLst/>
          </a:prstGeom>
          <a:noFill/>
        </p:spPr>
        <p:txBody>
          <a:bodyPr wrap="square">
            <a:spAutoFit/>
          </a:bodyPr>
          <a:lstStyle/>
          <a:p>
            <a:pPr algn="l"/>
            <a:r>
              <a:rPr sz="1000" b="0">
                <a:solidFill>
                  <a:srgbClr val="5A6A7A"/>
                </a:solidFill>
                <a:latin typeface="Calibri"/>
              </a:rPr>
              <a:t>Fragile Items – Safe Handling &amp; Storage  |  Civil Team Toolbox Training</a:t>
            </a:r>
          </a:p>
        </p:txBody>
      </p:sp>
      <p:sp>
        <p:nvSpPr>
          <p:cNvPr id="44" name="TextBox 43"/>
          <p:cNvSpPr txBox="1"/>
          <p:nvPr/>
        </p:nvSpPr>
        <p:spPr>
          <a:xfrm>
            <a:off x="10515600" y="6492240"/>
            <a:ext cx="1371600" cy="274320"/>
          </a:xfrm>
          <a:prstGeom prst="rect">
            <a:avLst/>
          </a:prstGeom>
          <a:noFill/>
        </p:spPr>
        <p:txBody>
          <a:bodyPr wrap="square">
            <a:spAutoFit/>
          </a:bodyPr>
          <a:lstStyle/>
          <a:p>
            <a:pPr algn="r"/>
            <a:r>
              <a:rPr sz="1000" b="0">
                <a:solidFill>
                  <a:srgbClr val="5A6A7A"/>
                </a:solidFill>
                <a:latin typeface="Calibri"/>
              </a:rP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73152"/>
          </a:xfrm>
          <a:prstGeom prst="rect">
            <a:avLst/>
          </a:prstGeom>
          <a:solidFill>
            <a:srgbClr val="C47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0972800" cy="457200"/>
          </a:xfrm>
          <a:prstGeom prst="rect">
            <a:avLst/>
          </a:prstGeom>
          <a:noFill/>
        </p:spPr>
        <p:txBody>
          <a:bodyPr wrap="square">
            <a:spAutoFit/>
          </a:bodyPr>
          <a:lstStyle/>
          <a:p>
            <a:pPr algn="l"/>
            <a:r>
              <a:rPr sz="2600" b="1">
                <a:solidFill>
                  <a:srgbClr val="FFFFFF"/>
                </a:solidFill>
                <a:latin typeface="Calibri"/>
              </a:rPr>
              <a:t>Key Training Objectives</a:t>
            </a:r>
          </a:p>
        </p:txBody>
      </p:sp>
      <p:sp>
        <p:nvSpPr>
          <p:cNvPr id="6" name="TextBox 5"/>
          <p:cNvSpPr txBox="1"/>
          <p:nvPr/>
        </p:nvSpPr>
        <p:spPr>
          <a:xfrm>
            <a:off x="457200" y="594360"/>
            <a:ext cx="10972800" cy="320040"/>
          </a:xfrm>
          <a:prstGeom prst="rect">
            <a:avLst/>
          </a:prstGeom>
          <a:noFill/>
        </p:spPr>
        <p:txBody>
          <a:bodyPr wrap="square">
            <a:spAutoFit/>
          </a:bodyPr>
          <a:lstStyle/>
          <a:p>
            <a:pPr algn="l"/>
            <a:r>
              <a:rPr sz="1200" b="0">
                <a:solidFill>
                  <a:srgbClr val="C8D5E0"/>
                </a:solidFill>
                <a:latin typeface="Calibri"/>
              </a:rPr>
              <a:t>What we will achieve today</a:t>
            </a:r>
          </a:p>
        </p:txBody>
      </p:sp>
      <p:sp>
        <p:nvSpPr>
          <p:cNvPr id="7" name="Rectangle 6"/>
          <p:cNvSpPr/>
          <p:nvPr/>
        </p:nvSpPr>
        <p:spPr>
          <a:xfrm>
            <a:off x="502920" y="1280160"/>
            <a:ext cx="5486400" cy="1234440"/>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280160"/>
            <a:ext cx="109728" cy="1234440"/>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417320"/>
            <a:ext cx="4937760" cy="320040"/>
          </a:xfrm>
          <a:prstGeom prst="rect">
            <a:avLst/>
          </a:prstGeom>
          <a:noFill/>
        </p:spPr>
        <p:txBody>
          <a:bodyPr wrap="square">
            <a:spAutoFit/>
          </a:bodyPr>
          <a:lstStyle/>
          <a:p>
            <a:pPr algn="l"/>
            <a:r>
              <a:rPr sz="1200" b="1">
                <a:solidFill>
                  <a:srgbClr val="1A6B6B"/>
                </a:solidFill>
                <a:latin typeface="Calibri"/>
              </a:rPr>
              <a:t>Objective 01</a:t>
            </a:r>
          </a:p>
        </p:txBody>
      </p:sp>
      <p:sp>
        <p:nvSpPr>
          <p:cNvPr id="10" name="TextBox 9"/>
          <p:cNvSpPr txBox="1"/>
          <p:nvPr/>
        </p:nvSpPr>
        <p:spPr>
          <a:xfrm>
            <a:off x="822960" y="1737360"/>
            <a:ext cx="4937760" cy="640080"/>
          </a:xfrm>
          <a:prstGeom prst="rect">
            <a:avLst/>
          </a:prstGeom>
          <a:noFill/>
        </p:spPr>
        <p:txBody>
          <a:bodyPr wrap="square">
            <a:spAutoFit/>
          </a:bodyPr>
          <a:lstStyle/>
          <a:p>
            <a:pPr algn="l"/>
            <a:r>
              <a:rPr sz="1500" b="0">
                <a:solidFill>
                  <a:srgbClr val="1A1A1A"/>
                </a:solidFill>
                <a:latin typeface="Calibri"/>
              </a:rPr>
              <a:t>Prevent damage to fragile materials and finished works.</a:t>
            </a:r>
          </a:p>
        </p:txBody>
      </p:sp>
      <p:sp>
        <p:nvSpPr>
          <p:cNvPr id="11" name="Rectangle 10"/>
          <p:cNvSpPr/>
          <p:nvPr/>
        </p:nvSpPr>
        <p:spPr>
          <a:xfrm>
            <a:off x="6263640" y="1280160"/>
            <a:ext cx="5486400" cy="1234440"/>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280160"/>
            <a:ext cx="109728" cy="1234440"/>
          </a:xfrm>
          <a:prstGeom prst="rect">
            <a:avLst/>
          </a:prstGeom>
          <a:solidFill>
            <a:srgbClr val="C47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417320"/>
            <a:ext cx="4937760" cy="320040"/>
          </a:xfrm>
          <a:prstGeom prst="rect">
            <a:avLst/>
          </a:prstGeom>
          <a:noFill/>
        </p:spPr>
        <p:txBody>
          <a:bodyPr wrap="square">
            <a:spAutoFit/>
          </a:bodyPr>
          <a:lstStyle/>
          <a:p>
            <a:pPr algn="l"/>
            <a:r>
              <a:rPr sz="1200" b="1">
                <a:solidFill>
                  <a:srgbClr val="1A6B6B"/>
                </a:solidFill>
                <a:latin typeface="Calibri"/>
              </a:rPr>
              <a:t>Objective 02</a:t>
            </a:r>
          </a:p>
        </p:txBody>
      </p:sp>
      <p:sp>
        <p:nvSpPr>
          <p:cNvPr id="14" name="TextBox 13"/>
          <p:cNvSpPr txBox="1"/>
          <p:nvPr/>
        </p:nvSpPr>
        <p:spPr>
          <a:xfrm>
            <a:off x="6583680" y="1737360"/>
            <a:ext cx="4937760" cy="640080"/>
          </a:xfrm>
          <a:prstGeom prst="rect">
            <a:avLst/>
          </a:prstGeom>
          <a:noFill/>
        </p:spPr>
        <p:txBody>
          <a:bodyPr wrap="square">
            <a:spAutoFit/>
          </a:bodyPr>
          <a:lstStyle/>
          <a:p>
            <a:pPr algn="l"/>
            <a:r>
              <a:rPr sz="1500" b="0">
                <a:solidFill>
                  <a:srgbClr val="1A1A1A"/>
                </a:solidFill>
                <a:latin typeface="Calibri"/>
              </a:rPr>
              <a:t>Prevent injuries during lifting, shifting and transportation.</a:t>
            </a:r>
          </a:p>
        </p:txBody>
      </p:sp>
      <p:sp>
        <p:nvSpPr>
          <p:cNvPr id="15" name="Rectangle 14"/>
          <p:cNvSpPr/>
          <p:nvPr/>
        </p:nvSpPr>
        <p:spPr>
          <a:xfrm>
            <a:off x="502920" y="2697480"/>
            <a:ext cx="5486400" cy="1234440"/>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2697480"/>
            <a:ext cx="109728" cy="1234440"/>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834640"/>
            <a:ext cx="4937760" cy="320040"/>
          </a:xfrm>
          <a:prstGeom prst="rect">
            <a:avLst/>
          </a:prstGeom>
          <a:noFill/>
        </p:spPr>
        <p:txBody>
          <a:bodyPr wrap="square">
            <a:spAutoFit/>
          </a:bodyPr>
          <a:lstStyle/>
          <a:p>
            <a:pPr algn="l"/>
            <a:r>
              <a:rPr sz="1200" b="1">
                <a:solidFill>
                  <a:srgbClr val="1A6B6B"/>
                </a:solidFill>
                <a:latin typeface="Calibri"/>
              </a:rPr>
              <a:t>Objective 03</a:t>
            </a:r>
          </a:p>
        </p:txBody>
      </p:sp>
      <p:sp>
        <p:nvSpPr>
          <p:cNvPr id="18" name="TextBox 17"/>
          <p:cNvSpPr txBox="1"/>
          <p:nvPr/>
        </p:nvSpPr>
        <p:spPr>
          <a:xfrm>
            <a:off x="822960" y="3154680"/>
            <a:ext cx="4937760" cy="640080"/>
          </a:xfrm>
          <a:prstGeom prst="rect">
            <a:avLst/>
          </a:prstGeom>
          <a:noFill/>
        </p:spPr>
        <p:txBody>
          <a:bodyPr wrap="square">
            <a:spAutoFit/>
          </a:bodyPr>
          <a:lstStyle/>
          <a:p>
            <a:pPr algn="l"/>
            <a:r>
              <a:rPr sz="1500" b="0">
                <a:solidFill>
                  <a:srgbClr val="1A1A1A"/>
                </a:solidFill>
                <a:latin typeface="Calibri"/>
              </a:rPr>
              <a:t>Ensure proper storage and protection of fragile items.</a:t>
            </a:r>
          </a:p>
        </p:txBody>
      </p:sp>
      <p:sp>
        <p:nvSpPr>
          <p:cNvPr id="19" name="Rectangle 18"/>
          <p:cNvSpPr/>
          <p:nvPr/>
        </p:nvSpPr>
        <p:spPr>
          <a:xfrm>
            <a:off x="6263640" y="2697480"/>
            <a:ext cx="5486400" cy="1234440"/>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2697480"/>
            <a:ext cx="109728" cy="1234440"/>
          </a:xfrm>
          <a:prstGeom prst="rect">
            <a:avLst/>
          </a:prstGeom>
          <a:solidFill>
            <a:srgbClr val="C47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2834640"/>
            <a:ext cx="4937760" cy="320040"/>
          </a:xfrm>
          <a:prstGeom prst="rect">
            <a:avLst/>
          </a:prstGeom>
          <a:noFill/>
        </p:spPr>
        <p:txBody>
          <a:bodyPr wrap="square">
            <a:spAutoFit/>
          </a:bodyPr>
          <a:lstStyle/>
          <a:p>
            <a:pPr algn="l"/>
            <a:r>
              <a:rPr sz="1200" b="1">
                <a:solidFill>
                  <a:srgbClr val="1A6B6B"/>
                </a:solidFill>
                <a:latin typeface="Calibri"/>
              </a:rPr>
              <a:t>Objective 04</a:t>
            </a:r>
          </a:p>
        </p:txBody>
      </p:sp>
      <p:sp>
        <p:nvSpPr>
          <p:cNvPr id="22" name="TextBox 21"/>
          <p:cNvSpPr txBox="1"/>
          <p:nvPr/>
        </p:nvSpPr>
        <p:spPr>
          <a:xfrm>
            <a:off x="6583680" y="3154680"/>
            <a:ext cx="4937760" cy="640080"/>
          </a:xfrm>
          <a:prstGeom prst="rect">
            <a:avLst/>
          </a:prstGeom>
          <a:noFill/>
        </p:spPr>
        <p:txBody>
          <a:bodyPr wrap="square">
            <a:spAutoFit/>
          </a:bodyPr>
          <a:lstStyle/>
          <a:p>
            <a:pPr algn="l"/>
            <a:r>
              <a:rPr sz="1500" b="0">
                <a:solidFill>
                  <a:srgbClr val="1A1A1A"/>
                </a:solidFill>
                <a:latin typeface="Calibri"/>
              </a:rPr>
              <a:t>Reduce material wastage and replacement costs.</a:t>
            </a:r>
          </a:p>
        </p:txBody>
      </p:sp>
      <p:sp>
        <p:nvSpPr>
          <p:cNvPr id="23" name="Rectangle 22"/>
          <p:cNvSpPr/>
          <p:nvPr/>
        </p:nvSpPr>
        <p:spPr>
          <a:xfrm>
            <a:off x="502920" y="4114800"/>
            <a:ext cx="5486400" cy="1234440"/>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4114800"/>
            <a:ext cx="109728" cy="1234440"/>
          </a:xfrm>
          <a:prstGeom prst="rect">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251960"/>
            <a:ext cx="4937760" cy="320040"/>
          </a:xfrm>
          <a:prstGeom prst="rect">
            <a:avLst/>
          </a:prstGeom>
          <a:noFill/>
        </p:spPr>
        <p:txBody>
          <a:bodyPr wrap="square">
            <a:spAutoFit/>
          </a:bodyPr>
          <a:lstStyle/>
          <a:p>
            <a:pPr algn="l"/>
            <a:r>
              <a:rPr sz="1200" b="1">
                <a:solidFill>
                  <a:srgbClr val="1A6B6B"/>
                </a:solidFill>
                <a:latin typeface="Calibri"/>
              </a:rPr>
              <a:t>Objective 05</a:t>
            </a:r>
          </a:p>
        </p:txBody>
      </p:sp>
      <p:sp>
        <p:nvSpPr>
          <p:cNvPr id="26" name="TextBox 25"/>
          <p:cNvSpPr txBox="1"/>
          <p:nvPr/>
        </p:nvSpPr>
        <p:spPr>
          <a:xfrm>
            <a:off x="822960" y="4572000"/>
            <a:ext cx="4937760" cy="640080"/>
          </a:xfrm>
          <a:prstGeom prst="rect">
            <a:avLst/>
          </a:prstGeom>
          <a:noFill/>
        </p:spPr>
        <p:txBody>
          <a:bodyPr wrap="square">
            <a:spAutoFit/>
          </a:bodyPr>
          <a:lstStyle/>
          <a:p>
            <a:pPr algn="l"/>
            <a:r>
              <a:rPr sz="1500" b="0">
                <a:solidFill>
                  <a:srgbClr val="1A1A1A"/>
                </a:solidFill>
                <a:latin typeface="Calibri"/>
              </a:rPr>
              <a:t>Make the Civil Team responsible for safe material handling.</a:t>
            </a:r>
          </a:p>
        </p:txBody>
      </p:sp>
      <p:sp>
        <p:nvSpPr>
          <p:cNvPr id="27" name="Rectangle 26"/>
          <p:cNvSpPr/>
          <p:nvPr/>
        </p:nvSpPr>
        <p:spPr>
          <a:xfrm>
            <a:off x="6263640" y="4114800"/>
            <a:ext cx="5486400" cy="1234440"/>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63640" y="4114800"/>
            <a:ext cx="109728" cy="1234440"/>
          </a:xfrm>
          <a:prstGeom prst="rect">
            <a:avLst/>
          </a:prstGeom>
          <a:solidFill>
            <a:srgbClr val="C47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4251960"/>
            <a:ext cx="4937760" cy="320040"/>
          </a:xfrm>
          <a:prstGeom prst="rect">
            <a:avLst/>
          </a:prstGeom>
          <a:noFill/>
        </p:spPr>
        <p:txBody>
          <a:bodyPr wrap="square">
            <a:spAutoFit/>
          </a:bodyPr>
          <a:lstStyle/>
          <a:p>
            <a:pPr algn="l"/>
            <a:r>
              <a:rPr sz="1200" b="1">
                <a:solidFill>
                  <a:srgbClr val="1A6B6B"/>
                </a:solidFill>
                <a:latin typeface="Calibri"/>
              </a:rPr>
              <a:t>Objective 06</a:t>
            </a:r>
          </a:p>
        </p:txBody>
      </p:sp>
      <p:sp>
        <p:nvSpPr>
          <p:cNvPr id="30" name="TextBox 29"/>
          <p:cNvSpPr txBox="1"/>
          <p:nvPr/>
        </p:nvSpPr>
        <p:spPr>
          <a:xfrm>
            <a:off x="6583680" y="4572000"/>
            <a:ext cx="4937760" cy="640080"/>
          </a:xfrm>
          <a:prstGeom prst="rect">
            <a:avLst/>
          </a:prstGeom>
          <a:noFill/>
        </p:spPr>
        <p:txBody>
          <a:bodyPr wrap="square">
            <a:spAutoFit/>
          </a:bodyPr>
          <a:lstStyle/>
          <a:p>
            <a:pPr algn="l"/>
            <a:r>
              <a:rPr sz="1500" b="0">
                <a:solidFill>
                  <a:srgbClr val="1A1A1A"/>
                </a:solidFill>
                <a:latin typeface="Calibri"/>
              </a:rPr>
              <a:t>Maintain good housekeeping and organized storage areas.</a:t>
            </a:r>
          </a:p>
        </p:txBody>
      </p:sp>
      <p:sp>
        <p:nvSpPr>
          <p:cNvPr id="31" name="TextBox 30"/>
          <p:cNvSpPr txBox="1"/>
          <p:nvPr/>
        </p:nvSpPr>
        <p:spPr>
          <a:xfrm>
            <a:off x="457200" y="6492240"/>
            <a:ext cx="9144000" cy="274320"/>
          </a:xfrm>
          <a:prstGeom prst="rect">
            <a:avLst/>
          </a:prstGeom>
          <a:noFill/>
        </p:spPr>
        <p:txBody>
          <a:bodyPr wrap="square">
            <a:spAutoFit/>
          </a:bodyPr>
          <a:lstStyle/>
          <a:p>
            <a:pPr algn="l"/>
            <a:r>
              <a:rPr sz="1000" b="0">
                <a:solidFill>
                  <a:srgbClr val="5A6A7A"/>
                </a:solidFill>
                <a:latin typeface="Calibri"/>
              </a:rPr>
              <a:t>Fragile Items – Safe Handling &amp; Storage  |  Civil Team Toolbox Training</a:t>
            </a:r>
          </a:p>
        </p:txBody>
      </p:sp>
      <p:sp>
        <p:nvSpPr>
          <p:cNvPr id="32" name="TextBox 31"/>
          <p:cNvSpPr txBox="1"/>
          <p:nvPr/>
        </p:nvSpPr>
        <p:spPr>
          <a:xfrm>
            <a:off x="10515600" y="6492240"/>
            <a:ext cx="1371600" cy="274320"/>
          </a:xfrm>
          <a:prstGeom prst="rect">
            <a:avLst/>
          </a:prstGeom>
          <a:noFill/>
        </p:spPr>
        <p:txBody>
          <a:bodyPr wrap="square">
            <a:spAutoFit/>
          </a:bodyPr>
          <a:lstStyle/>
          <a:p>
            <a:pPr algn="r"/>
            <a:r>
              <a:rPr sz="1000" b="0">
                <a:solidFill>
                  <a:srgbClr val="5A6A7A"/>
                </a:solidFill>
                <a:latin typeface="Calibri"/>
              </a:rP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73152"/>
          </a:xfrm>
          <a:prstGeom prst="rect">
            <a:avLst/>
          </a:prstGeom>
          <a:solidFill>
            <a:srgbClr val="C47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0972800" cy="457200"/>
          </a:xfrm>
          <a:prstGeom prst="rect">
            <a:avLst/>
          </a:prstGeom>
          <a:noFill/>
        </p:spPr>
        <p:txBody>
          <a:bodyPr wrap="square">
            <a:spAutoFit/>
          </a:bodyPr>
          <a:lstStyle/>
          <a:p>
            <a:pPr algn="l"/>
            <a:r>
              <a:rPr sz="2600" b="1">
                <a:solidFill>
                  <a:srgbClr val="FFFFFF"/>
                </a:solidFill>
                <a:latin typeface="Calibri"/>
              </a:rPr>
              <a:t>What are Fragile Items?</a:t>
            </a:r>
          </a:p>
        </p:txBody>
      </p:sp>
      <p:sp>
        <p:nvSpPr>
          <p:cNvPr id="6" name="TextBox 5"/>
          <p:cNvSpPr txBox="1"/>
          <p:nvPr/>
        </p:nvSpPr>
        <p:spPr>
          <a:xfrm>
            <a:off x="457200" y="594360"/>
            <a:ext cx="10972800" cy="320040"/>
          </a:xfrm>
          <a:prstGeom prst="rect">
            <a:avLst/>
          </a:prstGeom>
          <a:noFill/>
        </p:spPr>
        <p:txBody>
          <a:bodyPr wrap="square">
            <a:spAutoFit/>
          </a:bodyPr>
          <a:lstStyle/>
          <a:p>
            <a:pPr algn="l"/>
            <a:r>
              <a:rPr sz="1200" b="0">
                <a:solidFill>
                  <a:srgbClr val="C8D5E0"/>
                </a:solidFill>
                <a:latin typeface="Calibri"/>
              </a:rPr>
              <a:t>Materials that break, crack, chip or get damaged easily</a:t>
            </a:r>
          </a:p>
        </p:txBody>
      </p:sp>
      <p:sp>
        <p:nvSpPr>
          <p:cNvPr id="7" name="TextBox 6"/>
          <p:cNvSpPr txBox="1"/>
          <p:nvPr/>
        </p:nvSpPr>
        <p:spPr>
          <a:xfrm>
            <a:off x="548640" y="1280160"/>
            <a:ext cx="6858000" cy="1645920"/>
          </a:xfrm>
          <a:prstGeom prst="rect">
            <a:avLst/>
          </a:prstGeom>
          <a:noFill/>
        </p:spPr>
        <p:txBody>
          <a:bodyPr wrap="square">
            <a:spAutoFit/>
          </a:bodyPr>
          <a:lstStyle/>
          <a:p>
            <a:pPr algn="l"/>
            <a:r>
              <a:rPr sz="1700" b="0">
                <a:solidFill>
                  <a:srgbClr val="1A1A1A"/>
                </a:solidFill>
                <a:latin typeface="Calibri"/>
              </a:rPr>
              <a:t>Fragile items are materials that can be easily damaged by impact, pressure, improper lifting, vibration, stacking, moisture or rough handling. Once damaged, they often cannot be repaired and must be replaced — causing delay, cost and safety risk.</a:t>
            </a:r>
          </a:p>
        </p:txBody>
      </p:sp>
      <p:sp>
        <p:nvSpPr>
          <p:cNvPr id="8" name="TextBox 7"/>
          <p:cNvSpPr txBox="1"/>
          <p:nvPr/>
        </p:nvSpPr>
        <p:spPr>
          <a:xfrm>
            <a:off x="548640" y="3108960"/>
            <a:ext cx="6583680" cy="2286000"/>
          </a:xfrm>
          <a:prstGeom prst="rect">
            <a:avLst/>
          </a:prstGeom>
          <a:noFill/>
        </p:spPr>
        <p:txBody>
          <a:bodyPr wrap="square">
            <a:spAutoFit/>
          </a:bodyPr>
          <a:lstStyle/>
          <a:p>
            <a:pPr algn="l">
              <a:spcAft>
                <a:spcPts val="800"/>
              </a:spcAft>
            </a:pPr>
            <a:r>
              <a:rPr sz="1600" b="0">
                <a:solidFill>
                  <a:srgbClr val="1A1A1A"/>
                </a:solidFill>
                <a:latin typeface="Calibri"/>
              </a:rPr>
              <a:t>•  Easily damaged by impact or pressure</a:t>
            </a:r>
          </a:p>
          <a:p>
            <a:pPr algn="l">
              <a:spcAft>
                <a:spcPts val="800"/>
              </a:spcAft>
            </a:pPr>
            <a:r>
              <a:rPr sz="1600" b="0">
                <a:solidFill>
                  <a:srgbClr val="1A1A1A"/>
                </a:solidFill>
                <a:latin typeface="Calibri"/>
              </a:rPr>
              <a:t>•  Often expensive / long lead-time to replace</a:t>
            </a:r>
          </a:p>
          <a:p>
            <a:pPr algn="l">
              <a:spcAft>
                <a:spcPts val="800"/>
              </a:spcAft>
            </a:pPr>
            <a:r>
              <a:rPr sz="1600" b="0">
                <a:solidFill>
                  <a:srgbClr val="1A1A1A"/>
                </a:solidFill>
                <a:latin typeface="Calibri"/>
              </a:rPr>
              <a:t>•  Can cause injury if broken during handling</a:t>
            </a:r>
          </a:p>
          <a:p>
            <a:pPr algn="l">
              <a:spcAft>
                <a:spcPts val="800"/>
              </a:spcAft>
            </a:pPr>
            <a:r>
              <a:rPr sz="1600" b="0">
                <a:solidFill>
                  <a:srgbClr val="1A1A1A"/>
                </a:solidFill>
                <a:latin typeface="Calibri"/>
              </a:rPr>
              <a:t>•  Usually marked FRAGILE / HANDLE WITH CARE</a:t>
            </a:r>
          </a:p>
        </p:txBody>
      </p:sp>
      <p:sp>
        <p:nvSpPr>
          <p:cNvPr id="9" name="Rectangle 8"/>
          <p:cNvSpPr/>
          <p:nvPr/>
        </p:nvSpPr>
        <p:spPr>
          <a:xfrm>
            <a:off x="7772400" y="1371600"/>
            <a:ext cx="3931920" cy="4389120"/>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3246120"/>
            <a:ext cx="3931920" cy="640080"/>
          </a:xfrm>
          <a:prstGeom prst="rect">
            <a:avLst/>
          </a:prstGeom>
          <a:noFill/>
        </p:spPr>
        <p:txBody>
          <a:bodyPr wrap="square">
            <a:spAutoFit/>
          </a:bodyPr>
          <a:lstStyle/>
          <a:p>
            <a:pPr algn="ctr"/>
            <a:r>
              <a:rPr sz="1200" b="0">
                <a:solidFill>
                  <a:srgbClr val="5A6A7A"/>
                </a:solidFill>
                <a:latin typeface="Calibri"/>
              </a:rPr>
              <a:t>[ Image Placeholder ]
Photo: fragile materials on site</a:t>
            </a:r>
          </a:p>
        </p:txBody>
      </p:sp>
      <p:sp>
        <p:nvSpPr>
          <p:cNvPr id="11" name="TextBox 10"/>
          <p:cNvSpPr txBox="1"/>
          <p:nvPr/>
        </p:nvSpPr>
        <p:spPr>
          <a:xfrm>
            <a:off x="457200" y="6492240"/>
            <a:ext cx="9144000" cy="274320"/>
          </a:xfrm>
          <a:prstGeom prst="rect">
            <a:avLst/>
          </a:prstGeom>
          <a:noFill/>
        </p:spPr>
        <p:txBody>
          <a:bodyPr wrap="square">
            <a:spAutoFit/>
          </a:bodyPr>
          <a:lstStyle/>
          <a:p>
            <a:pPr algn="l"/>
            <a:r>
              <a:rPr sz="1000" b="0">
                <a:solidFill>
                  <a:srgbClr val="5A6A7A"/>
                </a:solidFill>
                <a:latin typeface="Calibri"/>
              </a:rPr>
              <a:t>Fragile Items – Safe Handling &amp; Storage  |  Civil Team Toolbox Training</a:t>
            </a:r>
          </a:p>
        </p:txBody>
      </p:sp>
      <p:sp>
        <p:nvSpPr>
          <p:cNvPr id="12" name="TextBox 11"/>
          <p:cNvSpPr txBox="1"/>
          <p:nvPr/>
        </p:nvSpPr>
        <p:spPr>
          <a:xfrm>
            <a:off x="10515600" y="6492240"/>
            <a:ext cx="1371600" cy="274320"/>
          </a:xfrm>
          <a:prstGeom prst="rect">
            <a:avLst/>
          </a:prstGeom>
          <a:noFill/>
        </p:spPr>
        <p:txBody>
          <a:bodyPr wrap="square">
            <a:spAutoFit/>
          </a:bodyPr>
          <a:lstStyle/>
          <a:p>
            <a:pPr algn="r"/>
            <a:r>
              <a:rPr sz="1000" b="0">
                <a:solidFill>
                  <a:srgbClr val="5A6A7A"/>
                </a:solidFill>
                <a:latin typeface="Calibri"/>
              </a:rP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73152"/>
          </a:xfrm>
          <a:prstGeom prst="rect">
            <a:avLst/>
          </a:prstGeom>
          <a:solidFill>
            <a:srgbClr val="C47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0972800" cy="457200"/>
          </a:xfrm>
          <a:prstGeom prst="rect">
            <a:avLst/>
          </a:prstGeom>
          <a:noFill/>
        </p:spPr>
        <p:txBody>
          <a:bodyPr wrap="square">
            <a:spAutoFit/>
          </a:bodyPr>
          <a:lstStyle/>
          <a:p>
            <a:pPr algn="l"/>
            <a:r>
              <a:rPr sz="2600" b="1">
                <a:solidFill>
                  <a:srgbClr val="FFFFFF"/>
                </a:solidFill>
                <a:latin typeface="Calibri"/>
              </a:rPr>
              <a:t>Identification of Fragile Materials at Site</a:t>
            </a:r>
          </a:p>
        </p:txBody>
      </p:sp>
      <p:sp>
        <p:nvSpPr>
          <p:cNvPr id="6" name="TextBox 5"/>
          <p:cNvSpPr txBox="1"/>
          <p:nvPr/>
        </p:nvSpPr>
        <p:spPr>
          <a:xfrm>
            <a:off x="457200" y="594360"/>
            <a:ext cx="10972800" cy="320040"/>
          </a:xfrm>
          <a:prstGeom prst="rect">
            <a:avLst/>
          </a:prstGeom>
          <a:noFill/>
        </p:spPr>
        <p:txBody>
          <a:bodyPr wrap="square">
            <a:spAutoFit/>
          </a:bodyPr>
          <a:lstStyle/>
          <a:p>
            <a:pPr algn="l"/>
            <a:r>
              <a:rPr sz="1200" b="0">
                <a:solidFill>
                  <a:srgbClr val="C8D5E0"/>
                </a:solidFill>
                <a:latin typeface="Calibri"/>
              </a:rPr>
              <a:t>Know what needs special care</a:t>
            </a:r>
          </a:p>
        </p:txBody>
      </p:sp>
      <p:sp>
        <p:nvSpPr>
          <p:cNvPr id="7" name="Rectangle 6"/>
          <p:cNvSpPr/>
          <p:nvPr/>
        </p:nvSpPr>
        <p:spPr>
          <a:xfrm>
            <a:off x="502920" y="1234440"/>
            <a:ext cx="3611880" cy="566928"/>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44168"/>
            <a:ext cx="3246120" cy="365760"/>
          </a:xfrm>
          <a:prstGeom prst="rect">
            <a:avLst/>
          </a:prstGeom>
          <a:noFill/>
        </p:spPr>
        <p:txBody>
          <a:bodyPr wrap="square">
            <a:spAutoFit/>
          </a:bodyPr>
          <a:lstStyle/>
          <a:p>
            <a:pPr algn="l"/>
            <a:r>
              <a:rPr sz="1300" b="0">
                <a:solidFill>
                  <a:srgbClr val="1A1A1A"/>
                </a:solidFill>
                <a:latin typeface="Calibri"/>
              </a:rPr>
              <a:t>•  Glass and glass panels</a:t>
            </a:r>
          </a:p>
        </p:txBody>
      </p:sp>
      <p:sp>
        <p:nvSpPr>
          <p:cNvPr id="9" name="Rectangle 8"/>
          <p:cNvSpPr/>
          <p:nvPr/>
        </p:nvSpPr>
        <p:spPr>
          <a:xfrm>
            <a:off x="502920" y="1920240"/>
            <a:ext cx="3611880" cy="566928"/>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29968"/>
            <a:ext cx="3246120" cy="365760"/>
          </a:xfrm>
          <a:prstGeom prst="rect">
            <a:avLst/>
          </a:prstGeom>
          <a:noFill/>
        </p:spPr>
        <p:txBody>
          <a:bodyPr wrap="square">
            <a:spAutoFit/>
          </a:bodyPr>
          <a:lstStyle/>
          <a:p>
            <a:pPr algn="l"/>
            <a:r>
              <a:rPr sz="1300" b="0">
                <a:solidFill>
                  <a:srgbClr val="1A1A1A"/>
                </a:solidFill>
                <a:latin typeface="Calibri"/>
              </a:rPr>
              <a:t>•  Tiles and marble</a:t>
            </a:r>
          </a:p>
        </p:txBody>
      </p:sp>
      <p:sp>
        <p:nvSpPr>
          <p:cNvPr id="11" name="Rectangle 10"/>
          <p:cNvSpPr/>
          <p:nvPr/>
        </p:nvSpPr>
        <p:spPr>
          <a:xfrm>
            <a:off x="502920" y="2606040"/>
            <a:ext cx="3611880" cy="566928"/>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715768"/>
            <a:ext cx="3246120" cy="365760"/>
          </a:xfrm>
          <a:prstGeom prst="rect">
            <a:avLst/>
          </a:prstGeom>
          <a:noFill/>
        </p:spPr>
        <p:txBody>
          <a:bodyPr wrap="square">
            <a:spAutoFit/>
          </a:bodyPr>
          <a:lstStyle/>
          <a:p>
            <a:pPr algn="l"/>
            <a:r>
              <a:rPr sz="1300" b="0">
                <a:solidFill>
                  <a:srgbClr val="1A1A1A"/>
                </a:solidFill>
                <a:latin typeface="Calibri"/>
              </a:rPr>
              <a:t>•  Wash basins &amp; sanitary fixtures</a:t>
            </a:r>
          </a:p>
        </p:txBody>
      </p:sp>
      <p:sp>
        <p:nvSpPr>
          <p:cNvPr id="13" name="Rectangle 12"/>
          <p:cNvSpPr/>
          <p:nvPr/>
        </p:nvSpPr>
        <p:spPr>
          <a:xfrm>
            <a:off x="502920" y="3291840"/>
            <a:ext cx="3611880" cy="566928"/>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01568"/>
            <a:ext cx="3246120" cy="365760"/>
          </a:xfrm>
          <a:prstGeom prst="rect">
            <a:avLst/>
          </a:prstGeom>
          <a:noFill/>
        </p:spPr>
        <p:txBody>
          <a:bodyPr wrap="square">
            <a:spAutoFit/>
          </a:bodyPr>
          <a:lstStyle/>
          <a:p>
            <a:pPr algn="l"/>
            <a:r>
              <a:rPr sz="1300" b="0">
                <a:solidFill>
                  <a:srgbClr val="1A1A1A"/>
                </a:solidFill>
                <a:latin typeface="Calibri"/>
              </a:rPr>
              <a:t>•  Ceramic items</a:t>
            </a:r>
          </a:p>
        </p:txBody>
      </p:sp>
      <p:sp>
        <p:nvSpPr>
          <p:cNvPr id="15" name="Rectangle 14"/>
          <p:cNvSpPr/>
          <p:nvPr/>
        </p:nvSpPr>
        <p:spPr>
          <a:xfrm>
            <a:off x="502920" y="3977639"/>
            <a:ext cx="3611880" cy="566928"/>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087367"/>
            <a:ext cx="3246120" cy="365760"/>
          </a:xfrm>
          <a:prstGeom prst="rect">
            <a:avLst/>
          </a:prstGeom>
          <a:noFill/>
        </p:spPr>
        <p:txBody>
          <a:bodyPr wrap="square">
            <a:spAutoFit/>
          </a:bodyPr>
          <a:lstStyle/>
          <a:p>
            <a:pPr algn="l"/>
            <a:r>
              <a:rPr sz="1300" b="0">
                <a:solidFill>
                  <a:srgbClr val="1A1A1A"/>
                </a:solidFill>
                <a:latin typeface="Calibri"/>
              </a:rPr>
              <a:t>•  Doors and door frames</a:t>
            </a:r>
          </a:p>
        </p:txBody>
      </p:sp>
      <p:sp>
        <p:nvSpPr>
          <p:cNvPr id="17" name="Rectangle 16"/>
          <p:cNvSpPr/>
          <p:nvPr/>
        </p:nvSpPr>
        <p:spPr>
          <a:xfrm>
            <a:off x="502920" y="4663440"/>
            <a:ext cx="3611880" cy="566928"/>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773168"/>
            <a:ext cx="3246120" cy="365760"/>
          </a:xfrm>
          <a:prstGeom prst="rect">
            <a:avLst/>
          </a:prstGeom>
          <a:noFill/>
        </p:spPr>
        <p:txBody>
          <a:bodyPr wrap="square">
            <a:spAutoFit/>
          </a:bodyPr>
          <a:lstStyle/>
          <a:p>
            <a:pPr algn="l"/>
            <a:r>
              <a:rPr sz="1300" b="0">
                <a:solidFill>
                  <a:srgbClr val="1A1A1A"/>
                </a:solidFill>
                <a:latin typeface="Calibri"/>
              </a:rPr>
              <a:t>•  False ceiling materials</a:t>
            </a:r>
          </a:p>
        </p:txBody>
      </p:sp>
      <p:sp>
        <p:nvSpPr>
          <p:cNvPr id="19" name="Rectangle 18"/>
          <p:cNvSpPr/>
          <p:nvPr/>
        </p:nvSpPr>
        <p:spPr>
          <a:xfrm>
            <a:off x="4297680" y="1234440"/>
            <a:ext cx="3611880" cy="566928"/>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1344168"/>
            <a:ext cx="3246120" cy="365760"/>
          </a:xfrm>
          <a:prstGeom prst="rect">
            <a:avLst/>
          </a:prstGeom>
          <a:noFill/>
        </p:spPr>
        <p:txBody>
          <a:bodyPr wrap="square">
            <a:spAutoFit/>
          </a:bodyPr>
          <a:lstStyle/>
          <a:p>
            <a:pPr algn="l"/>
            <a:r>
              <a:rPr sz="1300" b="0">
                <a:solidFill>
                  <a:srgbClr val="1A1A1A"/>
                </a:solidFill>
                <a:latin typeface="Calibri"/>
              </a:rPr>
              <a:t>•  Lighting fixtures</a:t>
            </a:r>
          </a:p>
        </p:txBody>
      </p:sp>
      <p:sp>
        <p:nvSpPr>
          <p:cNvPr id="21" name="Rectangle 20"/>
          <p:cNvSpPr/>
          <p:nvPr/>
        </p:nvSpPr>
        <p:spPr>
          <a:xfrm>
            <a:off x="4297680" y="1920240"/>
            <a:ext cx="3611880" cy="566928"/>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60" y="2029968"/>
            <a:ext cx="3246120" cy="365760"/>
          </a:xfrm>
          <a:prstGeom prst="rect">
            <a:avLst/>
          </a:prstGeom>
          <a:noFill/>
        </p:spPr>
        <p:txBody>
          <a:bodyPr wrap="square">
            <a:spAutoFit/>
          </a:bodyPr>
          <a:lstStyle/>
          <a:p>
            <a:pPr algn="l"/>
            <a:r>
              <a:rPr sz="1300" b="0">
                <a:solidFill>
                  <a:srgbClr val="1A1A1A"/>
                </a:solidFill>
                <a:latin typeface="Calibri"/>
              </a:rPr>
              <a:t>•  Finished civil surfaces</a:t>
            </a:r>
          </a:p>
        </p:txBody>
      </p:sp>
      <p:sp>
        <p:nvSpPr>
          <p:cNvPr id="23" name="Rectangle 22"/>
          <p:cNvSpPr/>
          <p:nvPr/>
        </p:nvSpPr>
        <p:spPr>
          <a:xfrm>
            <a:off x="4297680" y="2606040"/>
            <a:ext cx="3611880" cy="566928"/>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0560" y="2715768"/>
            <a:ext cx="3246120" cy="365760"/>
          </a:xfrm>
          <a:prstGeom prst="rect">
            <a:avLst/>
          </a:prstGeom>
          <a:noFill/>
        </p:spPr>
        <p:txBody>
          <a:bodyPr wrap="square">
            <a:spAutoFit/>
          </a:bodyPr>
          <a:lstStyle/>
          <a:p>
            <a:pPr algn="l"/>
            <a:r>
              <a:rPr sz="1300" b="0">
                <a:solidFill>
                  <a:srgbClr val="1A1A1A"/>
                </a:solidFill>
                <a:latin typeface="Calibri"/>
              </a:rPr>
              <a:t>•  ACP / decorative panels</a:t>
            </a:r>
          </a:p>
        </p:txBody>
      </p:sp>
      <p:sp>
        <p:nvSpPr>
          <p:cNvPr id="25" name="Rectangle 24"/>
          <p:cNvSpPr/>
          <p:nvPr/>
        </p:nvSpPr>
        <p:spPr>
          <a:xfrm>
            <a:off x="4297680" y="3291840"/>
            <a:ext cx="3611880" cy="566928"/>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0560" y="3401568"/>
            <a:ext cx="3246120" cy="365760"/>
          </a:xfrm>
          <a:prstGeom prst="rect">
            <a:avLst/>
          </a:prstGeom>
          <a:noFill/>
        </p:spPr>
        <p:txBody>
          <a:bodyPr wrap="square">
            <a:spAutoFit/>
          </a:bodyPr>
          <a:lstStyle/>
          <a:p>
            <a:pPr algn="l"/>
            <a:r>
              <a:rPr sz="1300" b="0">
                <a:solidFill>
                  <a:srgbClr val="1A1A1A"/>
                </a:solidFill>
                <a:latin typeface="Calibri"/>
              </a:rPr>
              <a:t>•  Mirrors</a:t>
            </a:r>
          </a:p>
        </p:txBody>
      </p:sp>
      <p:sp>
        <p:nvSpPr>
          <p:cNvPr id="27" name="Rectangle 26"/>
          <p:cNvSpPr/>
          <p:nvPr/>
        </p:nvSpPr>
        <p:spPr>
          <a:xfrm>
            <a:off x="4297680" y="3977639"/>
            <a:ext cx="3611880" cy="566928"/>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0560" y="4087367"/>
            <a:ext cx="3246120" cy="365760"/>
          </a:xfrm>
          <a:prstGeom prst="rect">
            <a:avLst/>
          </a:prstGeom>
          <a:noFill/>
        </p:spPr>
        <p:txBody>
          <a:bodyPr wrap="square">
            <a:spAutoFit/>
          </a:bodyPr>
          <a:lstStyle/>
          <a:p>
            <a:pPr algn="l"/>
            <a:r>
              <a:rPr sz="1300" b="0">
                <a:solidFill>
                  <a:srgbClr val="1A1A1A"/>
                </a:solidFill>
                <a:latin typeface="Calibri"/>
              </a:rPr>
              <a:t>•  Pre-finished materials</a:t>
            </a:r>
          </a:p>
        </p:txBody>
      </p:sp>
      <p:sp>
        <p:nvSpPr>
          <p:cNvPr id="29" name="Rectangle 28"/>
          <p:cNvSpPr/>
          <p:nvPr/>
        </p:nvSpPr>
        <p:spPr>
          <a:xfrm>
            <a:off x="4297680" y="4663440"/>
            <a:ext cx="3611880" cy="566928"/>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80560" y="4773168"/>
            <a:ext cx="3246120" cy="365760"/>
          </a:xfrm>
          <a:prstGeom prst="rect">
            <a:avLst/>
          </a:prstGeom>
          <a:noFill/>
        </p:spPr>
        <p:txBody>
          <a:bodyPr wrap="square">
            <a:spAutoFit/>
          </a:bodyPr>
          <a:lstStyle/>
          <a:p>
            <a:pPr algn="l"/>
            <a:r>
              <a:rPr sz="1300" b="0">
                <a:solidFill>
                  <a:srgbClr val="1A1A1A"/>
                </a:solidFill>
                <a:latin typeface="Calibri"/>
              </a:rPr>
              <a:t>•  Any item marked FRAGILE / HANDLE WITH CARE</a:t>
            </a:r>
          </a:p>
        </p:txBody>
      </p:sp>
      <p:sp>
        <p:nvSpPr>
          <p:cNvPr id="31" name="Rectangle 30"/>
          <p:cNvSpPr/>
          <p:nvPr/>
        </p:nvSpPr>
        <p:spPr>
          <a:xfrm>
            <a:off x="8092440" y="1234440"/>
            <a:ext cx="3611880" cy="4297680"/>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92440" y="3063240"/>
            <a:ext cx="3611880" cy="640080"/>
          </a:xfrm>
          <a:prstGeom prst="rect">
            <a:avLst/>
          </a:prstGeom>
          <a:noFill/>
        </p:spPr>
        <p:txBody>
          <a:bodyPr wrap="square">
            <a:spAutoFit/>
          </a:bodyPr>
          <a:lstStyle/>
          <a:p>
            <a:pPr algn="ctr"/>
            <a:r>
              <a:rPr sz="1200" b="0">
                <a:solidFill>
                  <a:srgbClr val="5A6A7A"/>
                </a:solidFill>
                <a:latin typeface="Calibri"/>
              </a:rPr>
              <a:t>[ Image Placeholder ]
Collage: glass / tiles / sanitary / panels</a:t>
            </a:r>
          </a:p>
        </p:txBody>
      </p:sp>
      <p:sp>
        <p:nvSpPr>
          <p:cNvPr id="33" name="TextBox 32"/>
          <p:cNvSpPr txBox="1"/>
          <p:nvPr/>
        </p:nvSpPr>
        <p:spPr>
          <a:xfrm>
            <a:off x="457200" y="6492240"/>
            <a:ext cx="9144000" cy="274320"/>
          </a:xfrm>
          <a:prstGeom prst="rect">
            <a:avLst/>
          </a:prstGeom>
          <a:noFill/>
        </p:spPr>
        <p:txBody>
          <a:bodyPr wrap="square">
            <a:spAutoFit/>
          </a:bodyPr>
          <a:lstStyle/>
          <a:p>
            <a:pPr algn="l"/>
            <a:r>
              <a:rPr sz="1000" b="0">
                <a:solidFill>
                  <a:srgbClr val="5A6A7A"/>
                </a:solidFill>
                <a:latin typeface="Calibri"/>
              </a:rPr>
              <a:t>Fragile Items – Safe Handling &amp; Storage  |  Civil Team Toolbox Training</a:t>
            </a:r>
          </a:p>
        </p:txBody>
      </p:sp>
      <p:sp>
        <p:nvSpPr>
          <p:cNvPr id="34" name="TextBox 33"/>
          <p:cNvSpPr txBox="1"/>
          <p:nvPr/>
        </p:nvSpPr>
        <p:spPr>
          <a:xfrm>
            <a:off x="10515600" y="6492240"/>
            <a:ext cx="1371600" cy="274320"/>
          </a:xfrm>
          <a:prstGeom prst="rect">
            <a:avLst/>
          </a:prstGeom>
          <a:noFill/>
        </p:spPr>
        <p:txBody>
          <a:bodyPr wrap="square">
            <a:spAutoFit/>
          </a:bodyPr>
          <a:lstStyle/>
          <a:p>
            <a:pPr algn="r"/>
            <a:r>
              <a:rPr sz="1000" b="0">
                <a:solidFill>
                  <a:srgbClr val="5A6A7A"/>
                </a:solidFill>
                <a:latin typeface="Calibri"/>
              </a:rP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73152"/>
          </a:xfrm>
          <a:prstGeom prst="rect">
            <a:avLst/>
          </a:prstGeom>
          <a:solidFill>
            <a:srgbClr val="C47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0972800" cy="457200"/>
          </a:xfrm>
          <a:prstGeom prst="rect">
            <a:avLst/>
          </a:prstGeom>
          <a:noFill/>
        </p:spPr>
        <p:txBody>
          <a:bodyPr wrap="square">
            <a:spAutoFit/>
          </a:bodyPr>
          <a:lstStyle/>
          <a:p>
            <a:pPr algn="l"/>
            <a:r>
              <a:rPr sz="2600" b="1">
                <a:solidFill>
                  <a:srgbClr val="FFFFFF"/>
                </a:solidFill>
                <a:latin typeface="Calibri"/>
              </a:rPr>
              <a:t>Correct Handling &amp; Lifting Methods</a:t>
            </a:r>
          </a:p>
        </p:txBody>
      </p:sp>
      <p:sp>
        <p:nvSpPr>
          <p:cNvPr id="6" name="TextBox 5"/>
          <p:cNvSpPr txBox="1"/>
          <p:nvPr/>
        </p:nvSpPr>
        <p:spPr>
          <a:xfrm>
            <a:off x="457200" y="594360"/>
            <a:ext cx="10972800" cy="320040"/>
          </a:xfrm>
          <a:prstGeom prst="rect">
            <a:avLst/>
          </a:prstGeom>
          <a:noFill/>
        </p:spPr>
        <p:txBody>
          <a:bodyPr wrap="square">
            <a:spAutoFit/>
          </a:bodyPr>
          <a:lstStyle/>
          <a:p>
            <a:pPr algn="l"/>
            <a:r>
              <a:rPr sz="1200" b="0">
                <a:solidFill>
                  <a:srgbClr val="C8D5E0"/>
                </a:solidFill>
                <a:latin typeface="Calibri"/>
              </a:rPr>
              <a:t>10 minutes — core practical topic</a:t>
            </a:r>
          </a:p>
        </p:txBody>
      </p:sp>
      <p:sp>
        <p:nvSpPr>
          <p:cNvPr id="7" name="Rectangle 6"/>
          <p:cNvSpPr/>
          <p:nvPr/>
        </p:nvSpPr>
        <p:spPr>
          <a:xfrm>
            <a:off x="457200" y="1234440"/>
            <a:ext cx="5486400" cy="4114800"/>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71600"/>
            <a:ext cx="5029200" cy="365760"/>
          </a:xfrm>
          <a:prstGeom prst="rect">
            <a:avLst/>
          </a:prstGeom>
          <a:noFill/>
        </p:spPr>
        <p:txBody>
          <a:bodyPr wrap="square">
            <a:spAutoFit/>
          </a:bodyPr>
          <a:lstStyle/>
          <a:p>
            <a:pPr algn="l"/>
            <a:r>
              <a:rPr sz="1400" b="1">
                <a:solidFill>
                  <a:srgbClr val="2E7D4F"/>
                </a:solidFill>
                <a:latin typeface="Calibri"/>
              </a:rPr>
              <a:t>SAFE PRACTICE</a:t>
            </a:r>
          </a:p>
        </p:txBody>
      </p:sp>
      <p:sp>
        <p:nvSpPr>
          <p:cNvPr id="9" name="TextBox 8"/>
          <p:cNvSpPr txBox="1"/>
          <p:nvPr/>
        </p:nvSpPr>
        <p:spPr>
          <a:xfrm>
            <a:off x="685800" y="1874519"/>
            <a:ext cx="5029200" cy="3200400"/>
          </a:xfrm>
          <a:prstGeom prst="rect">
            <a:avLst/>
          </a:prstGeom>
          <a:noFill/>
        </p:spPr>
        <p:txBody>
          <a:bodyPr wrap="square">
            <a:spAutoFit/>
          </a:bodyPr>
          <a:lstStyle/>
          <a:p>
            <a:pPr algn="l">
              <a:spcAft>
                <a:spcPts val="800"/>
              </a:spcAft>
            </a:pPr>
            <a:r>
              <a:rPr sz="1500" b="0">
                <a:solidFill>
                  <a:srgbClr val="1A1A1A"/>
                </a:solidFill>
                <a:latin typeface="Calibri"/>
              </a:rPr>
              <a:t>•  Check material condition before moving.</a:t>
            </a:r>
          </a:p>
          <a:p>
            <a:pPr algn="l">
              <a:spcAft>
                <a:spcPts val="800"/>
              </a:spcAft>
            </a:pPr>
            <a:r>
              <a:rPr sz="1500" b="0">
                <a:solidFill>
                  <a:srgbClr val="1A1A1A"/>
                </a:solidFill>
                <a:latin typeface="Calibri"/>
              </a:rPr>
              <a:t>•  Use correct number of workers for weight &amp; size.</a:t>
            </a:r>
          </a:p>
          <a:p>
            <a:pPr algn="l">
              <a:spcAft>
                <a:spcPts val="800"/>
              </a:spcAft>
            </a:pPr>
            <a:r>
              <a:rPr sz="1500" b="0">
                <a:solidFill>
                  <a:srgbClr val="1A1A1A"/>
                </a:solidFill>
                <a:latin typeface="Calibri"/>
              </a:rPr>
              <a:t>•  Wear required PPE at all times.</a:t>
            </a:r>
          </a:p>
          <a:p>
            <a:pPr algn="l">
              <a:spcAft>
                <a:spcPts val="800"/>
              </a:spcAft>
            </a:pPr>
            <a:r>
              <a:rPr sz="1500" b="0">
                <a:solidFill>
                  <a:srgbClr val="1A1A1A"/>
                </a:solidFill>
                <a:latin typeface="Calibri"/>
              </a:rPr>
              <a:t>•  Use proper lifting posture (bend knees, keep back straight).</a:t>
            </a:r>
          </a:p>
        </p:txBody>
      </p:sp>
      <p:sp>
        <p:nvSpPr>
          <p:cNvPr id="10" name="Rectangle 9"/>
          <p:cNvSpPr/>
          <p:nvPr/>
        </p:nvSpPr>
        <p:spPr>
          <a:xfrm>
            <a:off x="6217920" y="1234440"/>
            <a:ext cx="5486400" cy="4114800"/>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371600"/>
            <a:ext cx="5029200" cy="365760"/>
          </a:xfrm>
          <a:prstGeom prst="rect">
            <a:avLst/>
          </a:prstGeom>
          <a:noFill/>
        </p:spPr>
        <p:txBody>
          <a:bodyPr wrap="square">
            <a:spAutoFit/>
          </a:bodyPr>
          <a:lstStyle/>
          <a:p>
            <a:pPr algn="l"/>
            <a:r>
              <a:rPr sz="1400" b="1">
                <a:solidFill>
                  <a:srgbClr val="A83A32"/>
                </a:solidFill>
                <a:latin typeface="Calibri"/>
              </a:rPr>
              <a:t>AVOID THESE ACTIONS</a:t>
            </a:r>
          </a:p>
        </p:txBody>
      </p:sp>
      <p:sp>
        <p:nvSpPr>
          <p:cNvPr id="12" name="TextBox 11"/>
          <p:cNvSpPr txBox="1"/>
          <p:nvPr/>
        </p:nvSpPr>
        <p:spPr>
          <a:xfrm>
            <a:off x="6446520" y="1874519"/>
            <a:ext cx="5029200" cy="3200400"/>
          </a:xfrm>
          <a:prstGeom prst="rect">
            <a:avLst/>
          </a:prstGeom>
          <a:noFill/>
        </p:spPr>
        <p:txBody>
          <a:bodyPr wrap="square">
            <a:spAutoFit/>
          </a:bodyPr>
          <a:lstStyle/>
          <a:p>
            <a:pPr algn="l">
              <a:spcAft>
                <a:spcPts val="800"/>
              </a:spcAft>
            </a:pPr>
            <a:r>
              <a:rPr sz="1500" b="0">
                <a:solidFill>
                  <a:srgbClr val="1A1A1A"/>
                </a:solidFill>
                <a:latin typeface="Calibri"/>
              </a:rPr>
              <a:t>•  Do not drag fragile materials on the floor.</a:t>
            </a:r>
          </a:p>
          <a:p>
            <a:pPr algn="l">
              <a:spcAft>
                <a:spcPts val="800"/>
              </a:spcAft>
            </a:pPr>
            <a:r>
              <a:rPr sz="1500" b="0">
                <a:solidFill>
                  <a:srgbClr val="1A1A1A"/>
                </a:solidFill>
                <a:latin typeface="Calibri"/>
              </a:rPr>
              <a:t>•  Do not throw, drop or slide materials.</a:t>
            </a:r>
          </a:p>
          <a:p>
            <a:pPr algn="l">
              <a:spcAft>
                <a:spcPts val="800"/>
              </a:spcAft>
            </a:pPr>
            <a:r>
              <a:rPr sz="1500" b="0">
                <a:solidFill>
                  <a:srgbClr val="1A1A1A"/>
                </a:solidFill>
                <a:latin typeface="Calibri"/>
              </a:rPr>
              <a:t>•  Hold from designated / supporting points.</a:t>
            </a:r>
          </a:p>
          <a:p>
            <a:pPr algn="l">
              <a:spcAft>
                <a:spcPts val="800"/>
              </a:spcAft>
            </a:pPr>
            <a:r>
              <a:rPr sz="1500" b="0">
                <a:solidFill>
                  <a:srgbClr val="1A1A1A"/>
                </a:solidFill>
                <a:latin typeface="Calibri"/>
              </a:rPr>
              <a:t>•  Use suitable trolleys or lifting equipment.</a:t>
            </a:r>
          </a:p>
        </p:txBody>
      </p:sp>
      <p:sp>
        <p:nvSpPr>
          <p:cNvPr id="13" name="Rectangle 12"/>
          <p:cNvSpPr/>
          <p:nvPr/>
        </p:nvSpPr>
        <p:spPr>
          <a:xfrm>
            <a:off x="457200" y="5486400"/>
            <a:ext cx="11247120" cy="822960"/>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577840"/>
            <a:ext cx="11247120" cy="640080"/>
          </a:xfrm>
          <a:prstGeom prst="rect">
            <a:avLst/>
          </a:prstGeom>
          <a:noFill/>
        </p:spPr>
        <p:txBody>
          <a:bodyPr wrap="square">
            <a:spAutoFit/>
          </a:bodyPr>
          <a:lstStyle/>
          <a:p>
            <a:pPr algn="ctr"/>
            <a:r>
              <a:rPr sz="1200" b="0">
                <a:solidFill>
                  <a:srgbClr val="5A6A7A"/>
                </a:solidFill>
                <a:latin typeface="Calibri"/>
              </a:rPr>
              <a:t>[ Image Placeholder ]
Optional: add lifting / PPE demonstration photo strip here</a:t>
            </a:r>
          </a:p>
        </p:txBody>
      </p:sp>
      <p:sp>
        <p:nvSpPr>
          <p:cNvPr id="15" name="TextBox 14"/>
          <p:cNvSpPr txBox="1"/>
          <p:nvPr/>
        </p:nvSpPr>
        <p:spPr>
          <a:xfrm>
            <a:off x="457200" y="6492240"/>
            <a:ext cx="9144000" cy="274320"/>
          </a:xfrm>
          <a:prstGeom prst="rect">
            <a:avLst/>
          </a:prstGeom>
          <a:noFill/>
        </p:spPr>
        <p:txBody>
          <a:bodyPr wrap="square">
            <a:spAutoFit/>
          </a:bodyPr>
          <a:lstStyle/>
          <a:p>
            <a:pPr algn="l"/>
            <a:r>
              <a:rPr sz="1000" b="0">
                <a:solidFill>
                  <a:srgbClr val="5A6A7A"/>
                </a:solidFill>
                <a:latin typeface="Calibri"/>
              </a:rPr>
              <a:t>Fragile Items – Safe Handling &amp; Storage  |  Civil Team Toolbox Training</a:t>
            </a:r>
          </a:p>
        </p:txBody>
      </p:sp>
      <p:sp>
        <p:nvSpPr>
          <p:cNvPr id="16" name="TextBox 15"/>
          <p:cNvSpPr txBox="1"/>
          <p:nvPr/>
        </p:nvSpPr>
        <p:spPr>
          <a:xfrm>
            <a:off x="10515600" y="6492240"/>
            <a:ext cx="1371600" cy="274320"/>
          </a:xfrm>
          <a:prstGeom prst="rect">
            <a:avLst/>
          </a:prstGeom>
          <a:noFill/>
        </p:spPr>
        <p:txBody>
          <a:bodyPr wrap="square">
            <a:spAutoFit/>
          </a:bodyPr>
          <a:lstStyle/>
          <a:p>
            <a:pPr algn="r"/>
            <a:r>
              <a:rPr sz="1000" b="0">
                <a:solidFill>
                  <a:srgbClr val="5A6A7A"/>
                </a:solidFill>
                <a:latin typeface="Calibri"/>
              </a:rPr>
              <a:t>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73152"/>
          </a:xfrm>
          <a:prstGeom prst="rect">
            <a:avLst/>
          </a:prstGeom>
          <a:solidFill>
            <a:srgbClr val="C47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0972800" cy="457200"/>
          </a:xfrm>
          <a:prstGeom prst="rect">
            <a:avLst/>
          </a:prstGeom>
          <a:noFill/>
        </p:spPr>
        <p:txBody>
          <a:bodyPr wrap="square">
            <a:spAutoFit/>
          </a:bodyPr>
          <a:lstStyle/>
          <a:p>
            <a:pPr algn="l"/>
            <a:r>
              <a:rPr sz="2600" b="1">
                <a:solidFill>
                  <a:srgbClr val="FFFFFF"/>
                </a:solidFill>
                <a:latin typeface="Calibri"/>
              </a:rPr>
              <a:t>Transportation &amp; Movement of Fragile Items</a:t>
            </a:r>
          </a:p>
        </p:txBody>
      </p:sp>
      <p:sp>
        <p:nvSpPr>
          <p:cNvPr id="6" name="TextBox 5"/>
          <p:cNvSpPr txBox="1"/>
          <p:nvPr/>
        </p:nvSpPr>
        <p:spPr>
          <a:xfrm>
            <a:off x="457200" y="594360"/>
            <a:ext cx="10972800" cy="320040"/>
          </a:xfrm>
          <a:prstGeom prst="rect">
            <a:avLst/>
          </a:prstGeom>
          <a:noFill/>
        </p:spPr>
        <p:txBody>
          <a:bodyPr wrap="square">
            <a:spAutoFit/>
          </a:bodyPr>
          <a:lstStyle/>
          <a:p>
            <a:pPr algn="l"/>
            <a:r>
              <a:rPr sz="1200" b="0">
                <a:solidFill>
                  <a:srgbClr val="C8D5E0"/>
                </a:solidFill>
                <a:latin typeface="Calibri"/>
              </a:rPr>
              <a:t>Plan the route — protect the material</a:t>
            </a:r>
          </a:p>
        </p:txBody>
      </p:sp>
      <p:sp>
        <p:nvSpPr>
          <p:cNvPr id="7" name="Rectangle 6"/>
          <p:cNvSpPr/>
          <p:nvPr/>
        </p:nvSpPr>
        <p:spPr>
          <a:xfrm>
            <a:off x="502920" y="1188720"/>
            <a:ext cx="502920" cy="50292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61872"/>
            <a:ext cx="502920" cy="365760"/>
          </a:xfrm>
          <a:prstGeom prst="rect">
            <a:avLst/>
          </a:prstGeom>
          <a:noFill/>
        </p:spPr>
        <p:txBody>
          <a:bodyPr wrap="square">
            <a:spAutoFit/>
          </a:bodyPr>
          <a:lstStyle/>
          <a:p>
            <a:pPr algn="ctr"/>
            <a:r>
              <a:rPr sz="1600" b="1">
                <a:solidFill>
                  <a:srgbClr val="FFFFFF"/>
                </a:solidFill>
                <a:latin typeface="Calibri"/>
              </a:rPr>
              <a:t>1</a:t>
            </a:r>
          </a:p>
        </p:txBody>
      </p:sp>
      <p:sp>
        <p:nvSpPr>
          <p:cNvPr id="9" name="TextBox 8"/>
          <p:cNvSpPr txBox="1"/>
          <p:nvPr/>
        </p:nvSpPr>
        <p:spPr>
          <a:xfrm>
            <a:off x="1188720" y="1207008"/>
            <a:ext cx="2011680" cy="320040"/>
          </a:xfrm>
          <a:prstGeom prst="rect">
            <a:avLst/>
          </a:prstGeom>
          <a:noFill/>
        </p:spPr>
        <p:txBody>
          <a:bodyPr wrap="square">
            <a:spAutoFit/>
          </a:bodyPr>
          <a:lstStyle/>
          <a:p>
            <a:pPr algn="l"/>
            <a:r>
              <a:rPr sz="1500" b="1">
                <a:solidFill>
                  <a:srgbClr val="1A6B6B"/>
                </a:solidFill>
                <a:latin typeface="Calibri"/>
              </a:rPr>
              <a:t>Plan</a:t>
            </a:r>
          </a:p>
        </p:txBody>
      </p:sp>
      <p:sp>
        <p:nvSpPr>
          <p:cNvPr id="10" name="TextBox 9"/>
          <p:cNvSpPr txBox="1"/>
          <p:nvPr/>
        </p:nvSpPr>
        <p:spPr>
          <a:xfrm>
            <a:off x="3200400" y="1207008"/>
            <a:ext cx="5029200" cy="457200"/>
          </a:xfrm>
          <a:prstGeom prst="rect">
            <a:avLst/>
          </a:prstGeom>
          <a:noFill/>
        </p:spPr>
        <p:txBody>
          <a:bodyPr wrap="square">
            <a:spAutoFit/>
          </a:bodyPr>
          <a:lstStyle/>
          <a:p>
            <a:pPr algn="l"/>
            <a:r>
              <a:rPr sz="1400" b="0">
                <a:solidFill>
                  <a:srgbClr val="1A1A1A"/>
                </a:solidFill>
                <a:latin typeface="Calibri"/>
              </a:rPr>
              <a:t>Plan the movement route before shifting.</a:t>
            </a:r>
          </a:p>
        </p:txBody>
      </p:sp>
      <p:sp>
        <p:nvSpPr>
          <p:cNvPr id="11" name="Rectangle 10"/>
          <p:cNvSpPr/>
          <p:nvPr/>
        </p:nvSpPr>
        <p:spPr>
          <a:xfrm>
            <a:off x="502920" y="1828800"/>
            <a:ext cx="502920" cy="50292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901952"/>
            <a:ext cx="502920" cy="365760"/>
          </a:xfrm>
          <a:prstGeom prst="rect">
            <a:avLst/>
          </a:prstGeom>
          <a:noFill/>
        </p:spPr>
        <p:txBody>
          <a:bodyPr wrap="square">
            <a:spAutoFit/>
          </a:bodyPr>
          <a:lstStyle/>
          <a:p>
            <a:pPr algn="ctr"/>
            <a:r>
              <a:rPr sz="1600" b="1">
                <a:solidFill>
                  <a:srgbClr val="FFFFFF"/>
                </a:solidFill>
                <a:latin typeface="Calibri"/>
              </a:rPr>
              <a:t>2</a:t>
            </a:r>
          </a:p>
        </p:txBody>
      </p:sp>
      <p:sp>
        <p:nvSpPr>
          <p:cNvPr id="13" name="TextBox 12"/>
          <p:cNvSpPr txBox="1"/>
          <p:nvPr/>
        </p:nvSpPr>
        <p:spPr>
          <a:xfrm>
            <a:off x="1188720" y="1847088"/>
            <a:ext cx="2011680" cy="320040"/>
          </a:xfrm>
          <a:prstGeom prst="rect">
            <a:avLst/>
          </a:prstGeom>
          <a:noFill/>
        </p:spPr>
        <p:txBody>
          <a:bodyPr wrap="square">
            <a:spAutoFit/>
          </a:bodyPr>
          <a:lstStyle/>
          <a:p>
            <a:pPr algn="l"/>
            <a:r>
              <a:rPr sz="1500" b="1">
                <a:solidFill>
                  <a:srgbClr val="1A6B6B"/>
                </a:solidFill>
                <a:latin typeface="Calibri"/>
              </a:rPr>
              <a:t>Clear</a:t>
            </a:r>
          </a:p>
        </p:txBody>
      </p:sp>
      <p:sp>
        <p:nvSpPr>
          <p:cNvPr id="14" name="TextBox 13"/>
          <p:cNvSpPr txBox="1"/>
          <p:nvPr/>
        </p:nvSpPr>
        <p:spPr>
          <a:xfrm>
            <a:off x="3200400" y="1847088"/>
            <a:ext cx="5029200" cy="457200"/>
          </a:xfrm>
          <a:prstGeom prst="rect">
            <a:avLst/>
          </a:prstGeom>
          <a:noFill/>
        </p:spPr>
        <p:txBody>
          <a:bodyPr wrap="square">
            <a:spAutoFit/>
          </a:bodyPr>
          <a:lstStyle/>
          <a:p>
            <a:pPr algn="l"/>
            <a:r>
              <a:rPr sz="1400" b="0">
                <a:solidFill>
                  <a:srgbClr val="1A1A1A"/>
                </a:solidFill>
                <a:latin typeface="Calibri"/>
              </a:rPr>
              <a:t>Keep the route clear of obstacles.</a:t>
            </a:r>
          </a:p>
        </p:txBody>
      </p:sp>
      <p:sp>
        <p:nvSpPr>
          <p:cNvPr id="15" name="Rectangle 14"/>
          <p:cNvSpPr/>
          <p:nvPr/>
        </p:nvSpPr>
        <p:spPr>
          <a:xfrm>
            <a:off x="502920" y="2468880"/>
            <a:ext cx="502920" cy="50292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542032"/>
            <a:ext cx="502920" cy="365760"/>
          </a:xfrm>
          <a:prstGeom prst="rect">
            <a:avLst/>
          </a:prstGeom>
          <a:noFill/>
        </p:spPr>
        <p:txBody>
          <a:bodyPr wrap="square">
            <a:spAutoFit/>
          </a:bodyPr>
          <a:lstStyle/>
          <a:p>
            <a:pPr algn="ctr"/>
            <a:r>
              <a:rPr sz="1600" b="1">
                <a:solidFill>
                  <a:srgbClr val="FFFFFF"/>
                </a:solidFill>
                <a:latin typeface="Calibri"/>
              </a:rPr>
              <a:t>3</a:t>
            </a:r>
          </a:p>
        </p:txBody>
      </p:sp>
      <p:sp>
        <p:nvSpPr>
          <p:cNvPr id="17" name="TextBox 16"/>
          <p:cNvSpPr txBox="1"/>
          <p:nvPr/>
        </p:nvSpPr>
        <p:spPr>
          <a:xfrm>
            <a:off x="1188720" y="2487168"/>
            <a:ext cx="2011680" cy="320040"/>
          </a:xfrm>
          <a:prstGeom prst="rect">
            <a:avLst/>
          </a:prstGeom>
          <a:noFill/>
        </p:spPr>
        <p:txBody>
          <a:bodyPr wrap="square">
            <a:spAutoFit/>
          </a:bodyPr>
          <a:lstStyle/>
          <a:p>
            <a:pPr algn="l"/>
            <a:r>
              <a:rPr sz="1500" b="1">
                <a:solidFill>
                  <a:srgbClr val="1A6B6B"/>
                </a:solidFill>
                <a:latin typeface="Calibri"/>
              </a:rPr>
              <a:t>Secure</a:t>
            </a:r>
          </a:p>
        </p:txBody>
      </p:sp>
      <p:sp>
        <p:nvSpPr>
          <p:cNvPr id="18" name="TextBox 17"/>
          <p:cNvSpPr txBox="1"/>
          <p:nvPr/>
        </p:nvSpPr>
        <p:spPr>
          <a:xfrm>
            <a:off x="3200400" y="2487168"/>
            <a:ext cx="5029200" cy="457200"/>
          </a:xfrm>
          <a:prstGeom prst="rect">
            <a:avLst/>
          </a:prstGeom>
          <a:noFill/>
        </p:spPr>
        <p:txBody>
          <a:bodyPr wrap="square">
            <a:spAutoFit/>
          </a:bodyPr>
          <a:lstStyle/>
          <a:p>
            <a:pPr algn="l"/>
            <a:r>
              <a:rPr sz="1400" b="0">
                <a:solidFill>
                  <a:srgbClr val="1A1A1A"/>
                </a:solidFill>
                <a:latin typeface="Calibri"/>
              </a:rPr>
              <a:t>Secure materials during transportation.</a:t>
            </a:r>
          </a:p>
        </p:txBody>
      </p:sp>
      <p:sp>
        <p:nvSpPr>
          <p:cNvPr id="19" name="Rectangle 18"/>
          <p:cNvSpPr/>
          <p:nvPr/>
        </p:nvSpPr>
        <p:spPr>
          <a:xfrm>
            <a:off x="502920" y="3108959"/>
            <a:ext cx="502920" cy="50292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3182111"/>
            <a:ext cx="502920" cy="365760"/>
          </a:xfrm>
          <a:prstGeom prst="rect">
            <a:avLst/>
          </a:prstGeom>
          <a:noFill/>
        </p:spPr>
        <p:txBody>
          <a:bodyPr wrap="square">
            <a:spAutoFit/>
          </a:bodyPr>
          <a:lstStyle/>
          <a:p>
            <a:pPr algn="ctr"/>
            <a:r>
              <a:rPr sz="1600" b="1">
                <a:solidFill>
                  <a:srgbClr val="FFFFFF"/>
                </a:solidFill>
                <a:latin typeface="Calibri"/>
              </a:rPr>
              <a:t>4</a:t>
            </a:r>
          </a:p>
        </p:txBody>
      </p:sp>
      <p:sp>
        <p:nvSpPr>
          <p:cNvPr id="21" name="TextBox 20"/>
          <p:cNvSpPr txBox="1"/>
          <p:nvPr/>
        </p:nvSpPr>
        <p:spPr>
          <a:xfrm>
            <a:off x="1188720" y="3127247"/>
            <a:ext cx="2011680" cy="320040"/>
          </a:xfrm>
          <a:prstGeom prst="rect">
            <a:avLst/>
          </a:prstGeom>
          <a:noFill/>
        </p:spPr>
        <p:txBody>
          <a:bodyPr wrap="square">
            <a:spAutoFit/>
          </a:bodyPr>
          <a:lstStyle/>
          <a:p>
            <a:pPr algn="l"/>
            <a:r>
              <a:rPr sz="1500" b="1">
                <a:solidFill>
                  <a:srgbClr val="1A6B6B"/>
                </a:solidFill>
                <a:latin typeface="Calibri"/>
              </a:rPr>
              <a:t>Limit</a:t>
            </a:r>
          </a:p>
        </p:txBody>
      </p:sp>
      <p:sp>
        <p:nvSpPr>
          <p:cNvPr id="22" name="TextBox 21"/>
          <p:cNvSpPr txBox="1"/>
          <p:nvPr/>
        </p:nvSpPr>
        <p:spPr>
          <a:xfrm>
            <a:off x="3200400" y="3127247"/>
            <a:ext cx="5029200" cy="457200"/>
          </a:xfrm>
          <a:prstGeom prst="rect">
            <a:avLst/>
          </a:prstGeom>
          <a:noFill/>
        </p:spPr>
        <p:txBody>
          <a:bodyPr wrap="square">
            <a:spAutoFit/>
          </a:bodyPr>
          <a:lstStyle/>
          <a:p>
            <a:pPr algn="l"/>
            <a:r>
              <a:rPr sz="1400" b="0">
                <a:solidFill>
                  <a:srgbClr val="1A1A1A"/>
                </a:solidFill>
                <a:latin typeface="Calibri"/>
              </a:rPr>
              <a:t>Do not overload trolleys.</a:t>
            </a:r>
          </a:p>
        </p:txBody>
      </p:sp>
      <p:sp>
        <p:nvSpPr>
          <p:cNvPr id="23" name="Rectangle 22"/>
          <p:cNvSpPr/>
          <p:nvPr/>
        </p:nvSpPr>
        <p:spPr>
          <a:xfrm>
            <a:off x="502920" y="3749039"/>
            <a:ext cx="502920" cy="50292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3822191"/>
            <a:ext cx="502920" cy="365760"/>
          </a:xfrm>
          <a:prstGeom prst="rect">
            <a:avLst/>
          </a:prstGeom>
          <a:noFill/>
        </p:spPr>
        <p:txBody>
          <a:bodyPr wrap="square">
            <a:spAutoFit/>
          </a:bodyPr>
          <a:lstStyle/>
          <a:p>
            <a:pPr algn="ctr"/>
            <a:r>
              <a:rPr sz="1600" b="1">
                <a:solidFill>
                  <a:srgbClr val="FFFFFF"/>
                </a:solidFill>
                <a:latin typeface="Calibri"/>
              </a:rPr>
              <a:t>5</a:t>
            </a:r>
          </a:p>
        </p:txBody>
      </p:sp>
      <p:sp>
        <p:nvSpPr>
          <p:cNvPr id="25" name="TextBox 24"/>
          <p:cNvSpPr txBox="1"/>
          <p:nvPr/>
        </p:nvSpPr>
        <p:spPr>
          <a:xfrm>
            <a:off x="1188720" y="3767327"/>
            <a:ext cx="2011680" cy="320040"/>
          </a:xfrm>
          <a:prstGeom prst="rect">
            <a:avLst/>
          </a:prstGeom>
          <a:noFill/>
        </p:spPr>
        <p:txBody>
          <a:bodyPr wrap="square">
            <a:spAutoFit/>
          </a:bodyPr>
          <a:lstStyle/>
          <a:p>
            <a:pPr algn="l"/>
            <a:r>
              <a:rPr sz="1500" b="1">
                <a:solidFill>
                  <a:srgbClr val="1A6B6B"/>
                </a:solidFill>
                <a:latin typeface="Calibri"/>
              </a:rPr>
              <a:t>Steady</a:t>
            </a:r>
          </a:p>
        </p:txBody>
      </p:sp>
      <p:sp>
        <p:nvSpPr>
          <p:cNvPr id="26" name="TextBox 25"/>
          <p:cNvSpPr txBox="1"/>
          <p:nvPr/>
        </p:nvSpPr>
        <p:spPr>
          <a:xfrm>
            <a:off x="3200400" y="3767327"/>
            <a:ext cx="5029200" cy="457200"/>
          </a:xfrm>
          <a:prstGeom prst="rect">
            <a:avLst/>
          </a:prstGeom>
          <a:noFill/>
        </p:spPr>
        <p:txBody>
          <a:bodyPr wrap="square">
            <a:spAutoFit/>
          </a:bodyPr>
          <a:lstStyle/>
          <a:p>
            <a:pPr algn="l"/>
            <a:r>
              <a:rPr sz="1400" b="0">
                <a:solidFill>
                  <a:srgbClr val="1A1A1A"/>
                </a:solidFill>
                <a:latin typeface="Calibri"/>
              </a:rPr>
              <a:t>Avoid sudden movements and impacts.</a:t>
            </a:r>
          </a:p>
        </p:txBody>
      </p:sp>
      <p:sp>
        <p:nvSpPr>
          <p:cNvPr id="27" name="Rectangle 26"/>
          <p:cNvSpPr/>
          <p:nvPr/>
        </p:nvSpPr>
        <p:spPr>
          <a:xfrm>
            <a:off x="502920" y="4389120"/>
            <a:ext cx="502920" cy="50292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4462272"/>
            <a:ext cx="502920" cy="365760"/>
          </a:xfrm>
          <a:prstGeom prst="rect">
            <a:avLst/>
          </a:prstGeom>
          <a:noFill/>
        </p:spPr>
        <p:txBody>
          <a:bodyPr wrap="square">
            <a:spAutoFit/>
          </a:bodyPr>
          <a:lstStyle/>
          <a:p>
            <a:pPr algn="ctr"/>
            <a:r>
              <a:rPr sz="1600" b="1">
                <a:solidFill>
                  <a:srgbClr val="FFFFFF"/>
                </a:solidFill>
                <a:latin typeface="Calibri"/>
              </a:rPr>
              <a:t>6</a:t>
            </a:r>
          </a:p>
        </p:txBody>
      </p:sp>
      <p:sp>
        <p:nvSpPr>
          <p:cNvPr id="29" name="TextBox 28"/>
          <p:cNvSpPr txBox="1"/>
          <p:nvPr/>
        </p:nvSpPr>
        <p:spPr>
          <a:xfrm>
            <a:off x="1188720" y="4407407"/>
            <a:ext cx="2011680" cy="320040"/>
          </a:xfrm>
          <a:prstGeom prst="rect">
            <a:avLst/>
          </a:prstGeom>
          <a:noFill/>
        </p:spPr>
        <p:txBody>
          <a:bodyPr wrap="square">
            <a:spAutoFit/>
          </a:bodyPr>
          <a:lstStyle/>
          <a:p>
            <a:pPr algn="l"/>
            <a:r>
              <a:rPr sz="1500" b="1">
                <a:solidFill>
                  <a:srgbClr val="1A6B6B"/>
                </a:solidFill>
                <a:latin typeface="Calibri"/>
              </a:rPr>
              <a:t>Protect</a:t>
            </a:r>
          </a:p>
        </p:txBody>
      </p:sp>
      <p:sp>
        <p:nvSpPr>
          <p:cNvPr id="30" name="TextBox 29"/>
          <p:cNvSpPr txBox="1"/>
          <p:nvPr/>
        </p:nvSpPr>
        <p:spPr>
          <a:xfrm>
            <a:off x="3200400" y="4407407"/>
            <a:ext cx="5029200" cy="457200"/>
          </a:xfrm>
          <a:prstGeom prst="rect">
            <a:avLst/>
          </a:prstGeom>
          <a:noFill/>
        </p:spPr>
        <p:txBody>
          <a:bodyPr wrap="square">
            <a:spAutoFit/>
          </a:bodyPr>
          <a:lstStyle/>
          <a:p>
            <a:pPr algn="l"/>
            <a:r>
              <a:rPr sz="1400" b="0">
                <a:solidFill>
                  <a:srgbClr val="1A1A1A"/>
                </a:solidFill>
                <a:latin typeface="Calibri"/>
              </a:rPr>
              <a:t>Protect corners and finished surfaces.</a:t>
            </a:r>
          </a:p>
        </p:txBody>
      </p:sp>
      <p:sp>
        <p:nvSpPr>
          <p:cNvPr id="31" name="Rectangle 30"/>
          <p:cNvSpPr/>
          <p:nvPr/>
        </p:nvSpPr>
        <p:spPr>
          <a:xfrm>
            <a:off x="502920" y="5029199"/>
            <a:ext cx="502920" cy="50292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5102351"/>
            <a:ext cx="502920" cy="365760"/>
          </a:xfrm>
          <a:prstGeom prst="rect">
            <a:avLst/>
          </a:prstGeom>
          <a:noFill/>
        </p:spPr>
        <p:txBody>
          <a:bodyPr wrap="square">
            <a:spAutoFit/>
          </a:bodyPr>
          <a:lstStyle/>
          <a:p>
            <a:pPr algn="ctr"/>
            <a:r>
              <a:rPr sz="1600" b="1">
                <a:solidFill>
                  <a:srgbClr val="FFFFFF"/>
                </a:solidFill>
                <a:latin typeface="Calibri"/>
              </a:rPr>
              <a:t>7</a:t>
            </a:r>
          </a:p>
        </p:txBody>
      </p:sp>
      <p:sp>
        <p:nvSpPr>
          <p:cNvPr id="33" name="TextBox 32"/>
          <p:cNvSpPr txBox="1"/>
          <p:nvPr/>
        </p:nvSpPr>
        <p:spPr>
          <a:xfrm>
            <a:off x="1188720" y="5047487"/>
            <a:ext cx="2011680" cy="320040"/>
          </a:xfrm>
          <a:prstGeom prst="rect">
            <a:avLst/>
          </a:prstGeom>
          <a:noFill/>
        </p:spPr>
        <p:txBody>
          <a:bodyPr wrap="square">
            <a:spAutoFit/>
          </a:bodyPr>
          <a:lstStyle/>
          <a:p>
            <a:pPr algn="l"/>
            <a:r>
              <a:rPr sz="1500" b="1">
                <a:solidFill>
                  <a:srgbClr val="1A6B6B"/>
                </a:solidFill>
                <a:latin typeface="Calibri"/>
              </a:rPr>
              <a:t>Stack Rule</a:t>
            </a:r>
          </a:p>
        </p:txBody>
      </p:sp>
      <p:sp>
        <p:nvSpPr>
          <p:cNvPr id="34" name="TextBox 33"/>
          <p:cNvSpPr txBox="1"/>
          <p:nvPr/>
        </p:nvSpPr>
        <p:spPr>
          <a:xfrm>
            <a:off x="3200400" y="5047487"/>
            <a:ext cx="5029200" cy="457200"/>
          </a:xfrm>
          <a:prstGeom prst="rect">
            <a:avLst/>
          </a:prstGeom>
          <a:noFill/>
        </p:spPr>
        <p:txBody>
          <a:bodyPr wrap="square">
            <a:spAutoFit/>
          </a:bodyPr>
          <a:lstStyle/>
          <a:p>
            <a:pPr algn="l"/>
            <a:r>
              <a:rPr sz="1400" b="0">
                <a:solidFill>
                  <a:srgbClr val="1A1A1A"/>
                </a:solidFill>
                <a:latin typeface="Calibri"/>
              </a:rPr>
              <a:t>Never place heavy materials over fragile items.</a:t>
            </a:r>
          </a:p>
        </p:txBody>
      </p:sp>
      <p:sp>
        <p:nvSpPr>
          <p:cNvPr id="35" name="Rectangle 34"/>
          <p:cNvSpPr/>
          <p:nvPr/>
        </p:nvSpPr>
        <p:spPr>
          <a:xfrm>
            <a:off x="8503920" y="1188720"/>
            <a:ext cx="3200400" cy="4754880"/>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03920" y="3246120"/>
            <a:ext cx="3200400" cy="640080"/>
          </a:xfrm>
          <a:prstGeom prst="rect">
            <a:avLst/>
          </a:prstGeom>
          <a:noFill/>
        </p:spPr>
        <p:txBody>
          <a:bodyPr wrap="square">
            <a:spAutoFit/>
          </a:bodyPr>
          <a:lstStyle/>
          <a:p>
            <a:pPr algn="ctr"/>
            <a:r>
              <a:rPr sz="1200" b="0">
                <a:solidFill>
                  <a:srgbClr val="5A6A7A"/>
                </a:solidFill>
                <a:latin typeface="Calibri"/>
              </a:rPr>
              <a:t>[ Image Placeholder ]
Photo: trolley movement on site</a:t>
            </a:r>
          </a:p>
        </p:txBody>
      </p:sp>
      <p:sp>
        <p:nvSpPr>
          <p:cNvPr id="37" name="TextBox 36"/>
          <p:cNvSpPr txBox="1"/>
          <p:nvPr/>
        </p:nvSpPr>
        <p:spPr>
          <a:xfrm>
            <a:off x="457200" y="6492240"/>
            <a:ext cx="9144000" cy="274320"/>
          </a:xfrm>
          <a:prstGeom prst="rect">
            <a:avLst/>
          </a:prstGeom>
          <a:noFill/>
        </p:spPr>
        <p:txBody>
          <a:bodyPr wrap="square">
            <a:spAutoFit/>
          </a:bodyPr>
          <a:lstStyle/>
          <a:p>
            <a:pPr algn="l"/>
            <a:r>
              <a:rPr sz="1000" b="0">
                <a:solidFill>
                  <a:srgbClr val="5A6A7A"/>
                </a:solidFill>
                <a:latin typeface="Calibri"/>
              </a:rPr>
              <a:t>Fragile Items – Safe Handling &amp; Storage  |  Civil Team Toolbox Training</a:t>
            </a:r>
          </a:p>
        </p:txBody>
      </p:sp>
      <p:sp>
        <p:nvSpPr>
          <p:cNvPr id="38" name="TextBox 37"/>
          <p:cNvSpPr txBox="1"/>
          <p:nvPr/>
        </p:nvSpPr>
        <p:spPr>
          <a:xfrm>
            <a:off x="10515600" y="6492240"/>
            <a:ext cx="1371600" cy="274320"/>
          </a:xfrm>
          <a:prstGeom prst="rect">
            <a:avLst/>
          </a:prstGeom>
          <a:noFill/>
        </p:spPr>
        <p:txBody>
          <a:bodyPr wrap="square">
            <a:spAutoFit/>
          </a:bodyPr>
          <a:lstStyle/>
          <a:p>
            <a:pPr algn="r"/>
            <a:r>
              <a:rPr sz="1000" b="0">
                <a:solidFill>
                  <a:srgbClr val="5A6A7A"/>
                </a:solidFill>
                <a:latin typeface="Calibri"/>
              </a:rP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73152"/>
          </a:xfrm>
          <a:prstGeom prst="rect">
            <a:avLst/>
          </a:prstGeom>
          <a:solidFill>
            <a:srgbClr val="C47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0972800" cy="457200"/>
          </a:xfrm>
          <a:prstGeom prst="rect">
            <a:avLst/>
          </a:prstGeom>
          <a:noFill/>
        </p:spPr>
        <p:txBody>
          <a:bodyPr wrap="square">
            <a:spAutoFit/>
          </a:bodyPr>
          <a:lstStyle/>
          <a:p>
            <a:pPr algn="l"/>
            <a:r>
              <a:rPr sz="2600" b="1">
                <a:solidFill>
                  <a:srgbClr val="FFFFFF"/>
                </a:solidFill>
                <a:latin typeface="Calibri"/>
              </a:rPr>
              <a:t>Storage &amp; Stacking Requirements</a:t>
            </a:r>
          </a:p>
        </p:txBody>
      </p:sp>
      <p:sp>
        <p:nvSpPr>
          <p:cNvPr id="6" name="TextBox 5"/>
          <p:cNvSpPr txBox="1"/>
          <p:nvPr/>
        </p:nvSpPr>
        <p:spPr>
          <a:xfrm>
            <a:off x="457200" y="594360"/>
            <a:ext cx="10972800" cy="320040"/>
          </a:xfrm>
          <a:prstGeom prst="rect">
            <a:avLst/>
          </a:prstGeom>
          <a:noFill/>
        </p:spPr>
        <p:txBody>
          <a:bodyPr wrap="square">
            <a:spAutoFit/>
          </a:bodyPr>
          <a:lstStyle/>
          <a:p>
            <a:pPr algn="l"/>
            <a:r>
              <a:rPr sz="1200" b="0">
                <a:solidFill>
                  <a:srgbClr val="C8D5E0"/>
                </a:solidFill>
                <a:latin typeface="Calibri"/>
              </a:rPr>
              <a:t>Store safe — retrieve safe</a:t>
            </a:r>
          </a:p>
        </p:txBody>
      </p:sp>
      <p:sp>
        <p:nvSpPr>
          <p:cNvPr id="7" name="TextBox 6"/>
          <p:cNvSpPr txBox="1"/>
          <p:nvPr/>
        </p:nvSpPr>
        <p:spPr>
          <a:xfrm>
            <a:off x="548640" y="1280160"/>
            <a:ext cx="6675120" cy="4389120"/>
          </a:xfrm>
          <a:prstGeom prst="rect">
            <a:avLst/>
          </a:prstGeom>
          <a:noFill/>
        </p:spPr>
        <p:txBody>
          <a:bodyPr wrap="square">
            <a:spAutoFit/>
          </a:bodyPr>
          <a:lstStyle/>
          <a:p>
            <a:pPr algn="l">
              <a:spcAft>
                <a:spcPts val="800"/>
              </a:spcAft>
            </a:pPr>
            <a:r>
              <a:rPr sz="1600" b="0">
                <a:solidFill>
                  <a:srgbClr val="1A1A1A"/>
                </a:solidFill>
                <a:latin typeface="Calibri"/>
              </a:rPr>
              <a:t>•  Store materials in designated areas only.</a:t>
            </a:r>
          </a:p>
          <a:p>
            <a:pPr algn="l">
              <a:spcAft>
                <a:spcPts val="800"/>
              </a:spcAft>
            </a:pPr>
            <a:r>
              <a:rPr sz="1600" b="0">
                <a:solidFill>
                  <a:srgbClr val="1A1A1A"/>
                </a:solidFill>
                <a:latin typeface="Calibri"/>
              </a:rPr>
              <a:t>•  Keep fragile items on stable and level surfaces.</a:t>
            </a:r>
          </a:p>
          <a:p>
            <a:pPr algn="l">
              <a:spcAft>
                <a:spcPts val="800"/>
              </a:spcAft>
            </a:pPr>
            <a:r>
              <a:rPr sz="1600" b="0">
                <a:solidFill>
                  <a:srgbClr val="1A1A1A"/>
                </a:solidFill>
                <a:latin typeface="Calibri"/>
              </a:rPr>
              <a:t>•  Use racks, pallets, supports or protective frames where required.</a:t>
            </a:r>
          </a:p>
          <a:p>
            <a:pPr algn="l">
              <a:spcAft>
                <a:spcPts val="800"/>
              </a:spcAft>
            </a:pPr>
            <a:r>
              <a:rPr sz="1600" b="0">
                <a:solidFill>
                  <a:srgbClr val="1A1A1A"/>
                </a:solidFill>
                <a:latin typeface="Calibri"/>
              </a:rPr>
              <a:t>•  Avoid unstable stacking.</a:t>
            </a:r>
          </a:p>
          <a:p>
            <a:pPr algn="l">
              <a:spcAft>
                <a:spcPts val="800"/>
              </a:spcAft>
            </a:pPr>
            <a:r>
              <a:rPr sz="1600" b="0">
                <a:solidFill>
                  <a:srgbClr val="1A1A1A"/>
                </a:solidFill>
                <a:latin typeface="Calibri"/>
              </a:rPr>
              <a:t>•  Keep heavy materials at the bottom.</a:t>
            </a:r>
          </a:p>
          <a:p>
            <a:pPr algn="l">
              <a:spcAft>
                <a:spcPts val="800"/>
              </a:spcAft>
            </a:pPr>
            <a:r>
              <a:rPr sz="1600" b="0">
                <a:solidFill>
                  <a:srgbClr val="1A1A1A"/>
                </a:solidFill>
                <a:latin typeface="Calibri"/>
              </a:rPr>
              <a:t>•  Protect from water, dust and construction activities.</a:t>
            </a:r>
          </a:p>
          <a:p>
            <a:pPr algn="l">
              <a:spcAft>
                <a:spcPts val="800"/>
              </a:spcAft>
            </a:pPr>
            <a:r>
              <a:rPr sz="1600" b="0">
                <a:solidFill>
                  <a:srgbClr val="1A1A1A"/>
                </a:solidFill>
                <a:latin typeface="Calibri"/>
              </a:rPr>
              <a:t>•  Maintain clear access around stored materials.</a:t>
            </a:r>
          </a:p>
          <a:p>
            <a:pPr algn="l">
              <a:spcAft>
                <a:spcPts val="800"/>
              </a:spcAft>
            </a:pPr>
            <a:r>
              <a:rPr sz="1600" b="0">
                <a:solidFill>
                  <a:srgbClr val="1A1A1A"/>
                </a:solidFill>
                <a:latin typeface="Calibri"/>
              </a:rPr>
              <a:t>•  Follow manufacturer's storage instructions.</a:t>
            </a:r>
          </a:p>
        </p:txBody>
      </p:sp>
      <p:sp>
        <p:nvSpPr>
          <p:cNvPr id="8" name="Rectangle 7"/>
          <p:cNvSpPr/>
          <p:nvPr/>
        </p:nvSpPr>
        <p:spPr>
          <a:xfrm>
            <a:off x="7589520" y="1280160"/>
            <a:ext cx="4114800" cy="4389120"/>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3154680"/>
            <a:ext cx="4114800" cy="640080"/>
          </a:xfrm>
          <a:prstGeom prst="rect">
            <a:avLst/>
          </a:prstGeom>
          <a:noFill/>
        </p:spPr>
        <p:txBody>
          <a:bodyPr wrap="square">
            <a:spAutoFit/>
          </a:bodyPr>
          <a:lstStyle/>
          <a:p>
            <a:pPr algn="ctr"/>
            <a:r>
              <a:rPr sz="1200" b="0">
                <a:solidFill>
                  <a:srgbClr val="5A6A7A"/>
                </a:solidFill>
                <a:latin typeface="Calibri"/>
              </a:rPr>
              <a:t>[ Image Placeholder ]
Photo: correct rack / pallet storage</a:t>
            </a:r>
          </a:p>
        </p:txBody>
      </p:sp>
      <p:sp>
        <p:nvSpPr>
          <p:cNvPr id="10" name="TextBox 9"/>
          <p:cNvSpPr txBox="1"/>
          <p:nvPr/>
        </p:nvSpPr>
        <p:spPr>
          <a:xfrm>
            <a:off x="457200" y="6492240"/>
            <a:ext cx="9144000" cy="274320"/>
          </a:xfrm>
          <a:prstGeom prst="rect">
            <a:avLst/>
          </a:prstGeom>
          <a:noFill/>
        </p:spPr>
        <p:txBody>
          <a:bodyPr wrap="square">
            <a:spAutoFit/>
          </a:bodyPr>
          <a:lstStyle/>
          <a:p>
            <a:pPr algn="l"/>
            <a:r>
              <a:rPr sz="1000" b="0">
                <a:solidFill>
                  <a:srgbClr val="5A6A7A"/>
                </a:solidFill>
                <a:latin typeface="Calibri"/>
              </a:rPr>
              <a:t>Fragile Items – Safe Handling &amp; Storage  |  Civil Team Toolbox Training</a:t>
            </a:r>
          </a:p>
        </p:txBody>
      </p:sp>
      <p:sp>
        <p:nvSpPr>
          <p:cNvPr id="11" name="TextBox 10"/>
          <p:cNvSpPr txBox="1"/>
          <p:nvPr/>
        </p:nvSpPr>
        <p:spPr>
          <a:xfrm>
            <a:off x="10515600" y="6492240"/>
            <a:ext cx="1371600" cy="274320"/>
          </a:xfrm>
          <a:prstGeom prst="rect">
            <a:avLst/>
          </a:prstGeom>
          <a:noFill/>
        </p:spPr>
        <p:txBody>
          <a:bodyPr wrap="square">
            <a:spAutoFit/>
          </a:bodyPr>
          <a:lstStyle/>
          <a:p>
            <a:pPr algn="r"/>
            <a:r>
              <a:rPr sz="1000" b="0">
                <a:solidFill>
                  <a:srgbClr val="5A6A7A"/>
                </a:solidFill>
                <a:latin typeface="Calibri"/>
              </a:rP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73152"/>
          </a:xfrm>
          <a:prstGeom prst="rect">
            <a:avLst/>
          </a:prstGeom>
          <a:solidFill>
            <a:srgbClr val="C47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0972800" cy="457200"/>
          </a:xfrm>
          <a:prstGeom prst="rect">
            <a:avLst/>
          </a:prstGeom>
          <a:noFill/>
        </p:spPr>
        <p:txBody>
          <a:bodyPr wrap="square">
            <a:spAutoFit/>
          </a:bodyPr>
          <a:lstStyle/>
          <a:p>
            <a:pPr algn="l"/>
            <a:r>
              <a:rPr sz="2600" b="1">
                <a:solidFill>
                  <a:srgbClr val="FFFFFF"/>
                </a:solidFill>
                <a:latin typeface="Calibri"/>
              </a:rPr>
              <a:t>Do's — Safe Practices</a:t>
            </a:r>
          </a:p>
        </p:txBody>
      </p:sp>
      <p:sp>
        <p:nvSpPr>
          <p:cNvPr id="6" name="TextBox 5"/>
          <p:cNvSpPr txBox="1"/>
          <p:nvPr/>
        </p:nvSpPr>
        <p:spPr>
          <a:xfrm>
            <a:off x="457200" y="594360"/>
            <a:ext cx="10972800" cy="320040"/>
          </a:xfrm>
          <a:prstGeom prst="rect">
            <a:avLst/>
          </a:prstGeom>
          <a:noFill/>
        </p:spPr>
        <p:txBody>
          <a:bodyPr wrap="square">
            <a:spAutoFit/>
          </a:bodyPr>
          <a:lstStyle/>
          <a:p>
            <a:pPr algn="l"/>
            <a:r>
              <a:rPr sz="1200" b="0">
                <a:solidFill>
                  <a:srgbClr val="C8D5E0"/>
                </a:solidFill>
                <a:latin typeface="Calibri"/>
              </a:rPr>
              <a:t>Follow every time</a:t>
            </a:r>
          </a:p>
        </p:txBody>
      </p:sp>
      <p:sp>
        <p:nvSpPr>
          <p:cNvPr id="7" name="Rectangle 6"/>
          <p:cNvSpPr/>
          <p:nvPr/>
        </p:nvSpPr>
        <p:spPr>
          <a:xfrm>
            <a:off x="502920" y="1280160"/>
            <a:ext cx="5532120" cy="914400"/>
          </a:xfrm>
          <a:prstGeom prst="rect">
            <a:avLst/>
          </a:prstGeom>
          <a:solidFill>
            <a:srgbClr val="E8F5EE"/>
          </a:solidFill>
          <a:ln w="12700">
            <a:solidFill>
              <a:srgbClr val="2E7D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36192"/>
            <a:ext cx="5029200" cy="411480"/>
          </a:xfrm>
          <a:prstGeom prst="rect">
            <a:avLst/>
          </a:prstGeom>
          <a:noFill/>
        </p:spPr>
        <p:txBody>
          <a:bodyPr wrap="square">
            <a:spAutoFit/>
          </a:bodyPr>
          <a:lstStyle/>
          <a:p>
            <a:pPr algn="l"/>
            <a:r>
              <a:rPr sz="1600" b="1">
                <a:solidFill>
                  <a:srgbClr val="1B5E3A"/>
                </a:solidFill>
                <a:latin typeface="Calibri"/>
              </a:rPr>
              <a:t>✓   Inspect before handling.</a:t>
            </a:r>
          </a:p>
        </p:txBody>
      </p:sp>
      <p:sp>
        <p:nvSpPr>
          <p:cNvPr id="9" name="Rectangle 8"/>
          <p:cNvSpPr/>
          <p:nvPr/>
        </p:nvSpPr>
        <p:spPr>
          <a:xfrm>
            <a:off x="6309359" y="1280160"/>
            <a:ext cx="5532120" cy="914400"/>
          </a:xfrm>
          <a:prstGeom prst="rect">
            <a:avLst/>
          </a:prstGeom>
          <a:solidFill>
            <a:srgbClr val="E8F5EE"/>
          </a:solidFill>
          <a:ln w="12700">
            <a:solidFill>
              <a:srgbClr val="2E7D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59" y="1536192"/>
            <a:ext cx="5029200" cy="411480"/>
          </a:xfrm>
          <a:prstGeom prst="rect">
            <a:avLst/>
          </a:prstGeom>
          <a:noFill/>
        </p:spPr>
        <p:txBody>
          <a:bodyPr wrap="square">
            <a:spAutoFit/>
          </a:bodyPr>
          <a:lstStyle/>
          <a:p>
            <a:pPr algn="l"/>
            <a:r>
              <a:rPr sz="1600" b="1">
                <a:solidFill>
                  <a:srgbClr val="1B5E3A"/>
                </a:solidFill>
                <a:latin typeface="Calibri"/>
              </a:rPr>
              <a:t>✓   Use proper PPE.</a:t>
            </a:r>
          </a:p>
        </p:txBody>
      </p:sp>
      <p:sp>
        <p:nvSpPr>
          <p:cNvPr id="11" name="Rectangle 10"/>
          <p:cNvSpPr/>
          <p:nvPr/>
        </p:nvSpPr>
        <p:spPr>
          <a:xfrm>
            <a:off x="502920" y="2377439"/>
            <a:ext cx="5532120" cy="914400"/>
          </a:xfrm>
          <a:prstGeom prst="rect">
            <a:avLst/>
          </a:prstGeom>
          <a:solidFill>
            <a:srgbClr val="E8F5EE"/>
          </a:solidFill>
          <a:ln w="12700">
            <a:solidFill>
              <a:srgbClr val="2E7D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33471"/>
            <a:ext cx="5029200" cy="411480"/>
          </a:xfrm>
          <a:prstGeom prst="rect">
            <a:avLst/>
          </a:prstGeom>
          <a:noFill/>
        </p:spPr>
        <p:txBody>
          <a:bodyPr wrap="square">
            <a:spAutoFit/>
          </a:bodyPr>
          <a:lstStyle/>
          <a:p>
            <a:pPr algn="l"/>
            <a:r>
              <a:rPr sz="1600" b="1">
                <a:solidFill>
                  <a:srgbClr val="1B5E3A"/>
                </a:solidFill>
                <a:latin typeface="Calibri"/>
              </a:rPr>
              <a:t>✓   Use proper tools / equipment.</a:t>
            </a:r>
          </a:p>
        </p:txBody>
      </p:sp>
      <p:sp>
        <p:nvSpPr>
          <p:cNvPr id="13" name="Rectangle 12"/>
          <p:cNvSpPr/>
          <p:nvPr/>
        </p:nvSpPr>
        <p:spPr>
          <a:xfrm>
            <a:off x="6309359" y="2377439"/>
            <a:ext cx="5532120" cy="914400"/>
          </a:xfrm>
          <a:prstGeom prst="rect">
            <a:avLst/>
          </a:prstGeom>
          <a:solidFill>
            <a:srgbClr val="E8F5EE"/>
          </a:solidFill>
          <a:ln w="12700">
            <a:solidFill>
              <a:srgbClr val="2E7D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59" y="2633471"/>
            <a:ext cx="5029200" cy="411480"/>
          </a:xfrm>
          <a:prstGeom prst="rect">
            <a:avLst/>
          </a:prstGeom>
          <a:noFill/>
        </p:spPr>
        <p:txBody>
          <a:bodyPr wrap="square">
            <a:spAutoFit/>
          </a:bodyPr>
          <a:lstStyle/>
          <a:p>
            <a:pPr algn="l"/>
            <a:r>
              <a:rPr sz="1600" b="1">
                <a:solidFill>
                  <a:srgbClr val="1B5E3A"/>
                </a:solidFill>
                <a:latin typeface="Calibri"/>
              </a:rPr>
              <a:t>✓   Follow lifting instructions.</a:t>
            </a:r>
          </a:p>
        </p:txBody>
      </p:sp>
      <p:sp>
        <p:nvSpPr>
          <p:cNvPr id="15" name="Rectangle 14"/>
          <p:cNvSpPr/>
          <p:nvPr/>
        </p:nvSpPr>
        <p:spPr>
          <a:xfrm>
            <a:off x="502920" y="3474720"/>
            <a:ext cx="5532120" cy="914400"/>
          </a:xfrm>
          <a:prstGeom prst="rect">
            <a:avLst/>
          </a:prstGeom>
          <a:solidFill>
            <a:srgbClr val="E8F5EE"/>
          </a:solidFill>
          <a:ln w="12700">
            <a:solidFill>
              <a:srgbClr val="2E7D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730752"/>
            <a:ext cx="5029200" cy="411480"/>
          </a:xfrm>
          <a:prstGeom prst="rect">
            <a:avLst/>
          </a:prstGeom>
          <a:noFill/>
        </p:spPr>
        <p:txBody>
          <a:bodyPr wrap="square">
            <a:spAutoFit/>
          </a:bodyPr>
          <a:lstStyle/>
          <a:p>
            <a:pPr algn="l"/>
            <a:r>
              <a:rPr sz="1600" b="1">
                <a:solidFill>
                  <a:srgbClr val="1B5E3A"/>
                </a:solidFill>
                <a:latin typeface="Calibri"/>
              </a:rPr>
              <a:t>✓   Use sufficient manpower.</a:t>
            </a:r>
          </a:p>
        </p:txBody>
      </p:sp>
      <p:sp>
        <p:nvSpPr>
          <p:cNvPr id="17" name="Rectangle 16"/>
          <p:cNvSpPr/>
          <p:nvPr/>
        </p:nvSpPr>
        <p:spPr>
          <a:xfrm>
            <a:off x="6309359" y="3474720"/>
            <a:ext cx="5532120" cy="914400"/>
          </a:xfrm>
          <a:prstGeom prst="rect">
            <a:avLst/>
          </a:prstGeom>
          <a:solidFill>
            <a:srgbClr val="E8F5EE"/>
          </a:solidFill>
          <a:ln w="12700">
            <a:solidFill>
              <a:srgbClr val="2E7D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59" y="3730752"/>
            <a:ext cx="5029200" cy="411480"/>
          </a:xfrm>
          <a:prstGeom prst="rect">
            <a:avLst/>
          </a:prstGeom>
          <a:noFill/>
        </p:spPr>
        <p:txBody>
          <a:bodyPr wrap="square">
            <a:spAutoFit/>
          </a:bodyPr>
          <a:lstStyle/>
          <a:p>
            <a:pPr algn="l"/>
            <a:r>
              <a:rPr sz="1600" b="1">
                <a:solidFill>
                  <a:srgbClr val="1B5E3A"/>
                </a:solidFill>
                <a:latin typeface="Calibri"/>
              </a:rPr>
              <a:t>✓   Communicate clearly during movement.</a:t>
            </a:r>
          </a:p>
        </p:txBody>
      </p:sp>
      <p:sp>
        <p:nvSpPr>
          <p:cNvPr id="19" name="Rectangle 18"/>
          <p:cNvSpPr/>
          <p:nvPr/>
        </p:nvSpPr>
        <p:spPr>
          <a:xfrm>
            <a:off x="502920" y="4572000"/>
            <a:ext cx="5532120" cy="914400"/>
          </a:xfrm>
          <a:prstGeom prst="rect">
            <a:avLst/>
          </a:prstGeom>
          <a:solidFill>
            <a:srgbClr val="E8F5EE"/>
          </a:solidFill>
          <a:ln w="12700">
            <a:solidFill>
              <a:srgbClr val="2E7D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828032"/>
            <a:ext cx="5029200" cy="411480"/>
          </a:xfrm>
          <a:prstGeom prst="rect">
            <a:avLst/>
          </a:prstGeom>
          <a:noFill/>
        </p:spPr>
        <p:txBody>
          <a:bodyPr wrap="square">
            <a:spAutoFit/>
          </a:bodyPr>
          <a:lstStyle/>
          <a:p>
            <a:pPr algn="l"/>
            <a:r>
              <a:rPr sz="1600" b="1">
                <a:solidFill>
                  <a:srgbClr val="1B5E3A"/>
                </a:solidFill>
                <a:latin typeface="Calibri"/>
              </a:rPr>
              <a:t>✓   Protect materials after installation.</a:t>
            </a:r>
          </a:p>
        </p:txBody>
      </p:sp>
      <p:sp>
        <p:nvSpPr>
          <p:cNvPr id="21" name="Rectangle 20"/>
          <p:cNvSpPr/>
          <p:nvPr/>
        </p:nvSpPr>
        <p:spPr>
          <a:xfrm>
            <a:off x="6309359" y="4572000"/>
            <a:ext cx="5532120" cy="914400"/>
          </a:xfrm>
          <a:prstGeom prst="rect">
            <a:avLst/>
          </a:prstGeom>
          <a:solidFill>
            <a:srgbClr val="E8F5EE"/>
          </a:solidFill>
          <a:ln w="12700">
            <a:solidFill>
              <a:srgbClr val="2E7D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7959" y="4828032"/>
            <a:ext cx="5029200" cy="411480"/>
          </a:xfrm>
          <a:prstGeom prst="rect">
            <a:avLst/>
          </a:prstGeom>
          <a:noFill/>
        </p:spPr>
        <p:txBody>
          <a:bodyPr wrap="square">
            <a:spAutoFit/>
          </a:bodyPr>
          <a:lstStyle/>
          <a:p>
            <a:pPr algn="l"/>
            <a:r>
              <a:rPr sz="1600" b="1">
                <a:solidFill>
                  <a:srgbClr val="1B5E3A"/>
                </a:solidFill>
                <a:latin typeface="Calibri"/>
              </a:rPr>
              <a:t>✓   Report any damage immediately.</a:t>
            </a:r>
          </a:p>
        </p:txBody>
      </p:sp>
      <p:sp>
        <p:nvSpPr>
          <p:cNvPr id="23" name="TextBox 22"/>
          <p:cNvSpPr txBox="1"/>
          <p:nvPr/>
        </p:nvSpPr>
        <p:spPr>
          <a:xfrm>
            <a:off x="457200" y="6492240"/>
            <a:ext cx="9144000" cy="274320"/>
          </a:xfrm>
          <a:prstGeom prst="rect">
            <a:avLst/>
          </a:prstGeom>
          <a:noFill/>
        </p:spPr>
        <p:txBody>
          <a:bodyPr wrap="square">
            <a:spAutoFit/>
          </a:bodyPr>
          <a:lstStyle/>
          <a:p>
            <a:pPr algn="l"/>
            <a:r>
              <a:rPr sz="1000" b="0">
                <a:solidFill>
                  <a:srgbClr val="5A6A7A"/>
                </a:solidFill>
                <a:latin typeface="Calibri"/>
              </a:rPr>
              <a:t>Fragile Items – Safe Handling &amp; Storage  |  Civil Team Toolbox Training</a:t>
            </a:r>
          </a:p>
        </p:txBody>
      </p:sp>
      <p:sp>
        <p:nvSpPr>
          <p:cNvPr id="24" name="TextBox 23"/>
          <p:cNvSpPr txBox="1"/>
          <p:nvPr/>
        </p:nvSpPr>
        <p:spPr>
          <a:xfrm>
            <a:off x="10515600" y="6492240"/>
            <a:ext cx="1371600" cy="274320"/>
          </a:xfrm>
          <a:prstGeom prst="rect">
            <a:avLst/>
          </a:prstGeom>
          <a:noFill/>
        </p:spPr>
        <p:txBody>
          <a:bodyPr wrap="square">
            <a:spAutoFit/>
          </a:bodyPr>
          <a:lstStyle/>
          <a:p>
            <a:pPr algn="r"/>
            <a:r>
              <a:rPr sz="1000" b="0">
                <a:solidFill>
                  <a:srgbClr val="5A6A7A"/>
                </a:solidFill>
                <a:latin typeface="Calibri"/>
              </a:rP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73152"/>
          </a:xfrm>
          <a:prstGeom prst="rect">
            <a:avLst/>
          </a:prstGeom>
          <a:solidFill>
            <a:srgbClr val="C47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0972800" cy="457200"/>
          </a:xfrm>
          <a:prstGeom prst="rect">
            <a:avLst/>
          </a:prstGeom>
          <a:noFill/>
        </p:spPr>
        <p:txBody>
          <a:bodyPr wrap="square">
            <a:spAutoFit/>
          </a:bodyPr>
          <a:lstStyle/>
          <a:p>
            <a:pPr algn="l"/>
            <a:r>
              <a:rPr sz="2600" b="1">
                <a:solidFill>
                  <a:srgbClr val="FFFFFF"/>
                </a:solidFill>
                <a:latin typeface="Calibri"/>
              </a:rPr>
              <a:t>Don'ts — Unsafe Practices</a:t>
            </a:r>
          </a:p>
        </p:txBody>
      </p:sp>
      <p:sp>
        <p:nvSpPr>
          <p:cNvPr id="6" name="TextBox 5"/>
          <p:cNvSpPr txBox="1"/>
          <p:nvPr/>
        </p:nvSpPr>
        <p:spPr>
          <a:xfrm>
            <a:off x="457200" y="594360"/>
            <a:ext cx="10972800" cy="320040"/>
          </a:xfrm>
          <a:prstGeom prst="rect">
            <a:avLst/>
          </a:prstGeom>
          <a:noFill/>
        </p:spPr>
        <p:txBody>
          <a:bodyPr wrap="square">
            <a:spAutoFit/>
          </a:bodyPr>
          <a:lstStyle/>
          <a:p>
            <a:pPr algn="l"/>
            <a:r>
              <a:rPr sz="1200" b="0">
                <a:solidFill>
                  <a:srgbClr val="C8D5E0"/>
                </a:solidFill>
                <a:latin typeface="Calibri"/>
              </a:rPr>
              <a:t>Stop these habits</a:t>
            </a:r>
          </a:p>
        </p:txBody>
      </p:sp>
      <p:sp>
        <p:nvSpPr>
          <p:cNvPr id="7" name="Rectangle 6"/>
          <p:cNvSpPr/>
          <p:nvPr/>
        </p:nvSpPr>
        <p:spPr>
          <a:xfrm>
            <a:off x="502920" y="1280160"/>
            <a:ext cx="5532120" cy="914400"/>
          </a:xfrm>
          <a:prstGeom prst="rect">
            <a:avLst/>
          </a:prstGeom>
          <a:solidFill>
            <a:srgbClr val="FBEEEC"/>
          </a:solidFill>
          <a:ln w="12700">
            <a:solidFill>
              <a:srgbClr val="A83A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36192"/>
            <a:ext cx="5029200" cy="411480"/>
          </a:xfrm>
          <a:prstGeom prst="rect">
            <a:avLst/>
          </a:prstGeom>
          <a:noFill/>
        </p:spPr>
        <p:txBody>
          <a:bodyPr wrap="square">
            <a:spAutoFit/>
          </a:bodyPr>
          <a:lstStyle/>
          <a:p>
            <a:pPr algn="l"/>
            <a:r>
              <a:rPr sz="1500" b="1">
                <a:solidFill>
                  <a:srgbClr val="7A2822"/>
                </a:solidFill>
                <a:latin typeface="Calibri"/>
              </a:rPr>
              <a:t>✗   Don't throw or drop materials.</a:t>
            </a:r>
          </a:p>
        </p:txBody>
      </p:sp>
      <p:sp>
        <p:nvSpPr>
          <p:cNvPr id="9" name="Rectangle 8"/>
          <p:cNvSpPr/>
          <p:nvPr/>
        </p:nvSpPr>
        <p:spPr>
          <a:xfrm>
            <a:off x="6309359" y="1280160"/>
            <a:ext cx="5532120" cy="914400"/>
          </a:xfrm>
          <a:prstGeom prst="rect">
            <a:avLst/>
          </a:prstGeom>
          <a:solidFill>
            <a:srgbClr val="FBEEEC"/>
          </a:solidFill>
          <a:ln w="12700">
            <a:solidFill>
              <a:srgbClr val="A83A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59" y="1536192"/>
            <a:ext cx="5029200" cy="411480"/>
          </a:xfrm>
          <a:prstGeom prst="rect">
            <a:avLst/>
          </a:prstGeom>
          <a:noFill/>
        </p:spPr>
        <p:txBody>
          <a:bodyPr wrap="square">
            <a:spAutoFit/>
          </a:bodyPr>
          <a:lstStyle/>
          <a:p>
            <a:pPr algn="l"/>
            <a:r>
              <a:rPr sz="1500" b="1">
                <a:solidFill>
                  <a:srgbClr val="7A2822"/>
                </a:solidFill>
                <a:latin typeface="Calibri"/>
              </a:rPr>
              <a:t>✗   Don't drag fragile items.</a:t>
            </a:r>
          </a:p>
        </p:txBody>
      </p:sp>
      <p:sp>
        <p:nvSpPr>
          <p:cNvPr id="11" name="Rectangle 10"/>
          <p:cNvSpPr/>
          <p:nvPr/>
        </p:nvSpPr>
        <p:spPr>
          <a:xfrm>
            <a:off x="502920" y="2377439"/>
            <a:ext cx="5532120" cy="914400"/>
          </a:xfrm>
          <a:prstGeom prst="rect">
            <a:avLst/>
          </a:prstGeom>
          <a:solidFill>
            <a:srgbClr val="FBEEEC"/>
          </a:solidFill>
          <a:ln w="12700">
            <a:solidFill>
              <a:srgbClr val="A83A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33471"/>
            <a:ext cx="5029200" cy="411480"/>
          </a:xfrm>
          <a:prstGeom prst="rect">
            <a:avLst/>
          </a:prstGeom>
          <a:noFill/>
        </p:spPr>
        <p:txBody>
          <a:bodyPr wrap="square">
            <a:spAutoFit/>
          </a:bodyPr>
          <a:lstStyle/>
          <a:p>
            <a:pPr algn="l"/>
            <a:r>
              <a:rPr sz="1500" b="1">
                <a:solidFill>
                  <a:srgbClr val="7A2822"/>
                </a:solidFill>
                <a:latin typeface="Calibri"/>
              </a:rPr>
              <a:t>✗   Don't stand fragile items in an unstable position.</a:t>
            </a:r>
          </a:p>
        </p:txBody>
      </p:sp>
      <p:sp>
        <p:nvSpPr>
          <p:cNvPr id="13" name="Rectangle 12"/>
          <p:cNvSpPr/>
          <p:nvPr/>
        </p:nvSpPr>
        <p:spPr>
          <a:xfrm>
            <a:off x="6309359" y="2377439"/>
            <a:ext cx="5532120" cy="914400"/>
          </a:xfrm>
          <a:prstGeom prst="rect">
            <a:avLst/>
          </a:prstGeom>
          <a:solidFill>
            <a:srgbClr val="FBEEEC"/>
          </a:solidFill>
          <a:ln w="12700">
            <a:solidFill>
              <a:srgbClr val="A83A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59" y="2633471"/>
            <a:ext cx="5029200" cy="411480"/>
          </a:xfrm>
          <a:prstGeom prst="rect">
            <a:avLst/>
          </a:prstGeom>
          <a:noFill/>
        </p:spPr>
        <p:txBody>
          <a:bodyPr wrap="square">
            <a:spAutoFit/>
          </a:bodyPr>
          <a:lstStyle/>
          <a:p>
            <a:pPr algn="l"/>
            <a:r>
              <a:rPr sz="1500" b="1">
                <a:solidFill>
                  <a:srgbClr val="7A2822"/>
                </a:solidFill>
                <a:latin typeface="Calibri"/>
              </a:rPr>
              <a:t>✗   Don't stack heavy materials on fragile materials.</a:t>
            </a:r>
          </a:p>
        </p:txBody>
      </p:sp>
      <p:sp>
        <p:nvSpPr>
          <p:cNvPr id="15" name="Rectangle 14"/>
          <p:cNvSpPr/>
          <p:nvPr/>
        </p:nvSpPr>
        <p:spPr>
          <a:xfrm>
            <a:off x="502920" y="3474720"/>
            <a:ext cx="5532120" cy="914400"/>
          </a:xfrm>
          <a:prstGeom prst="rect">
            <a:avLst/>
          </a:prstGeom>
          <a:solidFill>
            <a:srgbClr val="FBEEEC"/>
          </a:solidFill>
          <a:ln w="12700">
            <a:solidFill>
              <a:srgbClr val="A83A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730752"/>
            <a:ext cx="5029200" cy="411480"/>
          </a:xfrm>
          <a:prstGeom prst="rect">
            <a:avLst/>
          </a:prstGeom>
          <a:noFill/>
        </p:spPr>
        <p:txBody>
          <a:bodyPr wrap="square">
            <a:spAutoFit/>
          </a:bodyPr>
          <a:lstStyle/>
          <a:p>
            <a:pPr algn="l"/>
            <a:r>
              <a:rPr sz="1500" b="1">
                <a:solidFill>
                  <a:srgbClr val="7A2822"/>
                </a:solidFill>
                <a:latin typeface="Calibri"/>
              </a:rPr>
              <a:t>✗   Don't use damaged lifting equipment.</a:t>
            </a:r>
          </a:p>
        </p:txBody>
      </p:sp>
      <p:sp>
        <p:nvSpPr>
          <p:cNvPr id="17" name="Rectangle 16"/>
          <p:cNvSpPr/>
          <p:nvPr/>
        </p:nvSpPr>
        <p:spPr>
          <a:xfrm>
            <a:off x="6309359" y="3474720"/>
            <a:ext cx="5532120" cy="914400"/>
          </a:xfrm>
          <a:prstGeom prst="rect">
            <a:avLst/>
          </a:prstGeom>
          <a:solidFill>
            <a:srgbClr val="FBEEEC"/>
          </a:solidFill>
          <a:ln w="12700">
            <a:solidFill>
              <a:srgbClr val="A83A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59" y="3730752"/>
            <a:ext cx="5029200" cy="411480"/>
          </a:xfrm>
          <a:prstGeom prst="rect">
            <a:avLst/>
          </a:prstGeom>
          <a:noFill/>
        </p:spPr>
        <p:txBody>
          <a:bodyPr wrap="square">
            <a:spAutoFit/>
          </a:bodyPr>
          <a:lstStyle/>
          <a:p>
            <a:pPr algn="l"/>
            <a:r>
              <a:rPr sz="1500" b="1">
                <a:solidFill>
                  <a:srgbClr val="7A2822"/>
                </a:solidFill>
                <a:latin typeface="Calibri"/>
              </a:rPr>
              <a:t>✗   Don't carry oversized materials without assistance.</a:t>
            </a:r>
          </a:p>
        </p:txBody>
      </p:sp>
      <p:sp>
        <p:nvSpPr>
          <p:cNvPr id="19" name="Rectangle 18"/>
          <p:cNvSpPr/>
          <p:nvPr/>
        </p:nvSpPr>
        <p:spPr>
          <a:xfrm>
            <a:off x="502920" y="4572000"/>
            <a:ext cx="5532120" cy="914400"/>
          </a:xfrm>
          <a:prstGeom prst="rect">
            <a:avLst/>
          </a:prstGeom>
          <a:solidFill>
            <a:srgbClr val="FBEEEC"/>
          </a:solidFill>
          <a:ln w="12700">
            <a:solidFill>
              <a:srgbClr val="A83A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828032"/>
            <a:ext cx="5029200" cy="411480"/>
          </a:xfrm>
          <a:prstGeom prst="rect">
            <a:avLst/>
          </a:prstGeom>
          <a:noFill/>
        </p:spPr>
        <p:txBody>
          <a:bodyPr wrap="square">
            <a:spAutoFit/>
          </a:bodyPr>
          <a:lstStyle/>
          <a:p>
            <a:pPr algn="l"/>
            <a:r>
              <a:rPr sz="1500" b="1">
                <a:solidFill>
                  <a:srgbClr val="7A2822"/>
                </a:solidFill>
                <a:latin typeface="Calibri"/>
              </a:rPr>
              <a:t>✗   Don't leave fragile materials exposed to unnecessary site activity.</a:t>
            </a:r>
          </a:p>
        </p:txBody>
      </p:sp>
      <p:sp>
        <p:nvSpPr>
          <p:cNvPr id="21" name="Rectangle 20"/>
          <p:cNvSpPr/>
          <p:nvPr/>
        </p:nvSpPr>
        <p:spPr>
          <a:xfrm>
            <a:off x="6309359" y="4572000"/>
            <a:ext cx="5532120" cy="914400"/>
          </a:xfrm>
          <a:prstGeom prst="rect">
            <a:avLst/>
          </a:prstGeom>
          <a:solidFill>
            <a:srgbClr val="FBEEEC"/>
          </a:solidFill>
          <a:ln w="12700">
            <a:solidFill>
              <a:srgbClr val="A83A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7959" y="4828032"/>
            <a:ext cx="5029200" cy="411480"/>
          </a:xfrm>
          <a:prstGeom prst="rect">
            <a:avLst/>
          </a:prstGeom>
          <a:noFill/>
        </p:spPr>
        <p:txBody>
          <a:bodyPr wrap="square">
            <a:spAutoFit/>
          </a:bodyPr>
          <a:lstStyle/>
          <a:p>
            <a:pPr algn="l"/>
            <a:r>
              <a:rPr sz="1500" b="1">
                <a:solidFill>
                  <a:srgbClr val="7A2822"/>
                </a:solidFill>
                <a:latin typeface="Calibri"/>
              </a:rPr>
              <a:t>✗   Don't continue using damaged material without inspection.</a:t>
            </a:r>
          </a:p>
        </p:txBody>
      </p:sp>
      <p:sp>
        <p:nvSpPr>
          <p:cNvPr id="23" name="TextBox 22"/>
          <p:cNvSpPr txBox="1"/>
          <p:nvPr/>
        </p:nvSpPr>
        <p:spPr>
          <a:xfrm>
            <a:off x="457200" y="6492240"/>
            <a:ext cx="9144000" cy="274320"/>
          </a:xfrm>
          <a:prstGeom prst="rect">
            <a:avLst/>
          </a:prstGeom>
          <a:noFill/>
        </p:spPr>
        <p:txBody>
          <a:bodyPr wrap="square">
            <a:spAutoFit/>
          </a:bodyPr>
          <a:lstStyle/>
          <a:p>
            <a:pPr algn="l"/>
            <a:r>
              <a:rPr sz="1000" b="0">
                <a:solidFill>
                  <a:srgbClr val="5A6A7A"/>
                </a:solidFill>
                <a:latin typeface="Calibri"/>
              </a:rPr>
              <a:t>Fragile Items – Safe Handling &amp; Storage  |  Civil Team Toolbox Training</a:t>
            </a:r>
          </a:p>
        </p:txBody>
      </p:sp>
      <p:sp>
        <p:nvSpPr>
          <p:cNvPr id="24" name="TextBox 23"/>
          <p:cNvSpPr txBox="1"/>
          <p:nvPr/>
        </p:nvSpPr>
        <p:spPr>
          <a:xfrm>
            <a:off x="10515600" y="6492240"/>
            <a:ext cx="1371600" cy="274320"/>
          </a:xfrm>
          <a:prstGeom prst="rect">
            <a:avLst/>
          </a:prstGeom>
          <a:noFill/>
        </p:spPr>
        <p:txBody>
          <a:bodyPr wrap="square">
            <a:spAutoFit/>
          </a:bodyPr>
          <a:lstStyle/>
          <a:p>
            <a:pPr algn="r"/>
            <a:r>
              <a:rPr sz="1000" b="0">
                <a:solidFill>
                  <a:srgbClr val="5A6A7A"/>
                </a:solidFill>
                <a:latin typeface="Calibri"/>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73152"/>
          </a:xfrm>
          <a:prstGeom prst="rect">
            <a:avLst/>
          </a:prstGeom>
          <a:solidFill>
            <a:srgbClr val="C47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0972800" cy="457200"/>
          </a:xfrm>
          <a:prstGeom prst="rect">
            <a:avLst/>
          </a:prstGeom>
          <a:noFill/>
        </p:spPr>
        <p:txBody>
          <a:bodyPr wrap="square">
            <a:spAutoFit/>
          </a:bodyPr>
          <a:lstStyle/>
          <a:p>
            <a:pPr algn="l"/>
            <a:r>
              <a:rPr sz="2600" b="1">
                <a:solidFill>
                  <a:srgbClr val="FFFFFF"/>
                </a:solidFill>
                <a:latin typeface="Calibri"/>
              </a:rPr>
              <a:t>Practical Demonstration</a:t>
            </a:r>
          </a:p>
        </p:txBody>
      </p:sp>
      <p:sp>
        <p:nvSpPr>
          <p:cNvPr id="6" name="TextBox 5"/>
          <p:cNvSpPr txBox="1"/>
          <p:nvPr/>
        </p:nvSpPr>
        <p:spPr>
          <a:xfrm>
            <a:off x="457200" y="594360"/>
            <a:ext cx="10972800" cy="320040"/>
          </a:xfrm>
          <a:prstGeom prst="rect">
            <a:avLst/>
          </a:prstGeom>
          <a:noFill/>
        </p:spPr>
        <p:txBody>
          <a:bodyPr wrap="square">
            <a:spAutoFit/>
          </a:bodyPr>
          <a:lstStyle/>
          <a:p>
            <a:pPr algn="l"/>
            <a:r>
              <a:rPr sz="1200" b="0">
                <a:solidFill>
                  <a:srgbClr val="C8D5E0"/>
                </a:solidFill>
                <a:latin typeface="Calibri"/>
              </a:rPr>
              <a:t>Trainer to demonstrate live on site</a:t>
            </a:r>
          </a:p>
        </p:txBody>
      </p:sp>
      <p:sp>
        <p:nvSpPr>
          <p:cNvPr id="7" name="Rectangle 6"/>
          <p:cNvSpPr/>
          <p:nvPr/>
        </p:nvSpPr>
        <p:spPr>
          <a:xfrm>
            <a:off x="502920" y="1234440"/>
            <a:ext cx="640080" cy="548640"/>
          </a:xfrm>
          <a:prstGeom prst="rect">
            <a:avLst/>
          </a:prstGeom>
          <a:solidFill>
            <a:srgbClr val="C47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25880"/>
            <a:ext cx="640080" cy="365760"/>
          </a:xfrm>
          <a:prstGeom prst="rect">
            <a:avLst/>
          </a:prstGeom>
          <a:noFill/>
        </p:spPr>
        <p:txBody>
          <a:bodyPr wrap="square">
            <a:spAutoFit/>
          </a:bodyPr>
          <a:lstStyle/>
          <a:p>
            <a:pPr algn="ctr"/>
            <a:r>
              <a:rPr sz="1800" b="1">
                <a:solidFill>
                  <a:srgbClr val="FFFFFF"/>
                </a:solidFill>
                <a:latin typeface="Calibri"/>
              </a:rPr>
              <a:t>1</a:t>
            </a:r>
          </a:p>
        </p:txBody>
      </p:sp>
      <p:sp>
        <p:nvSpPr>
          <p:cNvPr id="9" name="Rectangle 8"/>
          <p:cNvSpPr/>
          <p:nvPr/>
        </p:nvSpPr>
        <p:spPr>
          <a:xfrm>
            <a:off x="1280160" y="1234440"/>
            <a:ext cx="6583680" cy="548640"/>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63040" y="1344168"/>
            <a:ext cx="6217920" cy="365760"/>
          </a:xfrm>
          <a:prstGeom prst="rect">
            <a:avLst/>
          </a:prstGeom>
          <a:noFill/>
        </p:spPr>
        <p:txBody>
          <a:bodyPr wrap="square">
            <a:spAutoFit/>
          </a:bodyPr>
          <a:lstStyle/>
          <a:p>
            <a:pPr algn="l"/>
            <a:r>
              <a:rPr sz="1500" b="0">
                <a:solidFill>
                  <a:srgbClr val="1A1A1A"/>
                </a:solidFill>
                <a:latin typeface="Calibri"/>
              </a:rPr>
              <a:t>Correct lifting of a fragile item</a:t>
            </a:r>
          </a:p>
        </p:txBody>
      </p:sp>
      <p:sp>
        <p:nvSpPr>
          <p:cNvPr id="11" name="Rectangle 10"/>
          <p:cNvSpPr/>
          <p:nvPr/>
        </p:nvSpPr>
        <p:spPr>
          <a:xfrm>
            <a:off x="502920" y="1965960"/>
            <a:ext cx="640080" cy="548640"/>
          </a:xfrm>
          <a:prstGeom prst="rect">
            <a:avLst/>
          </a:prstGeom>
          <a:solidFill>
            <a:srgbClr val="C47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057400"/>
            <a:ext cx="640080" cy="365760"/>
          </a:xfrm>
          <a:prstGeom prst="rect">
            <a:avLst/>
          </a:prstGeom>
          <a:noFill/>
        </p:spPr>
        <p:txBody>
          <a:bodyPr wrap="square">
            <a:spAutoFit/>
          </a:bodyPr>
          <a:lstStyle/>
          <a:p>
            <a:pPr algn="ctr"/>
            <a:r>
              <a:rPr sz="1800" b="1">
                <a:solidFill>
                  <a:srgbClr val="FFFFFF"/>
                </a:solidFill>
                <a:latin typeface="Calibri"/>
              </a:rPr>
              <a:t>2</a:t>
            </a:r>
          </a:p>
        </p:txBody>
      </p:sp>
      <p:sp>
        <p:nvSpPr>
          <p:cNvPr id="13" name="Rectangle 12"/>
          <p:cNvSpPr/>
          <p:nvPr/>
        </p:nvSpPr>
        <p:spPr>
          <a:xfrm>
            <a:off x="1280160" y="1965960"/>
            <a:ext cx="6583680" cy="548640"/>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63040" y="2075688"/>
            <a:ext cx="6217920" cy="365760"/>
          </a:xfrm>
          <a:prstGeom prst="rect">
            <a:avLst/>
          </a:prstGeom>
          <a:noFill/>
        </p:spPr>
        <p:txBody>
          <a:bodyPr wrap="square">
            <a:spAutoFit/>
          </a:bodyPr>
          <a:lstStyle/>
          <a:p>
            <a:pPr algn="l"/>
            <a:r>
              <a:rPr sz="1500" b="0">
                <a:solidFill>
                  <a:srgbClr val="1A1A1A"/>
                </a:solidFill>
                <a:latin typeface="Calibri"/>
              </a:rPr>
              <a:t>Correct use of a trolley</a:t>
            </a:r>
          </a:p>
        </p:txBody>
      </p:sp>
      <p:sp>
        <p:nvSpPr>
          <p:cNvPr id="15" name="Rectangle 14"/>
          <p:cNvSpPr/>
          <p:nvPr/>
        </p:nvSpPr>
        <p:spPr>
          <a:xfrm>
            <a:off x="502920" y="2697480"/>
            <a:ext cx="640080" cy="548640"/>
          </a:xfrm>
          <a:prstGeom prst="rect">
            <a:avLst/>
          </a:prstGeom>
          <a:solidFill>
            <a:srgbClr val="C47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788920"/>
            <a:ext cx="640080" cy="365760"/>
          </a:xfrm>
          <a:prstGeom prst="rect">
            <a:avLst/>
          </a:prstGeom>
          <a:noFill/>
        </p:spPr>
        <p:txBody>
          <a:bodyPr wrap="square">
            <a:spAutoFit/>
          </a:bodyPr>
          <a:lstStyle/>
          <a:p>
            <a:pPr algn="ctr"/>
            <a:r>
              <a:rPr sz="1800" b="1">
                <a:solidFill>
                  <a:srgbClr val="FFFFFF"/>
                </a:solidFill>
                <a:latin typeface="Calibri"/>
              </a:rPr>
              <a:t>3</a:t>
            </a:r>
          </a:p>
        </p:txBody>
      </p:sp>
      <p:sp>
        <p:nvSpPr>
          <p:cNvPr id="17" name="Rectangle 16"/>
          <p:cNvSpPr/>
          <p:nvPr/>
        </p:nvSpPr>
        <p:spPr>
          <a:xfrm>
            <a:off x="1280160" y="2697480"/>
            <a:ext cx="6583680" cy="548640"/>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63040" y="2807208"/>
            <a:ext cx="6217920" cy="365760"/>
          </a:xfrm>
          <a:prstGeom prst="rect">
            <a:avLst/>
          </a:prstGeom>
          <a:noFill/>
        </p:spPr>
        <p:txBody>
          <a:bodyPr wrap="square">
            <a:spAutoFit/>
          </a:bodyPr>
          <a:lstStyle/>
          <a:p>
            <a:pPr algn="l"/>
            <a:r>
              <a:rPr sz="1500" b="0">
                <a:solidFill>
                  <a:srgbClr val="1A1A1A"/>
                </a:solidFill>
                <a:latin typeface="Calibri"/>
              </a:rPr>
              <a:t>Safe movement through a work area</a:t>
            </a:r>
          </a:p>
        </p:txBody>
      </p:sp>
      <p:sp>
        <p:nvSpPr>
          <p:cNvPr id="19" name="Rectangle 18"/>
          <p:cNvSpPr/>
          <p:nvPr/>
        </p:nvSpPr>
        <p:spPr>
          <a:xfrm>
            <a:off x="502920" y="3429000"/>
            <a:ext cx="640080" cy="548640"/>
          </a:xfrm>
          <a:prstGeom prst="rect">
            <a:avLst/>
          </a:prstGeom>
          <a:solidFill>
            <a:srgbClr val="C47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3520440"/>
            <a:ext cx="640080" cy="365760"/>
          </a:xfrm>
          <a:prstGeom prst="rect">
            <a:avLst/>
          </a:prstGeom>
          <a:noFill/>
        </p:spPr>
        <p:txBody>
          <a:bodyPr wrap="square">
            <a:spAutoFit/>
          </a:bodyPr>
          <a:lstStyle/>
          <a:p>
            <a:pPr algn="ctr"/>
            <a:r>
              <a:rPr sz="1800" b="1">
                <a:solidFill>
                  <a:srgbClr val="FFFFFF"/>
                </a:solidFill>
                <a:latin typeface="Calibri"/>
              </a:rPr>
              <a:t>4</a:t>
            </a:r>
          </a:p>
        </p:txBody>
      </p:sp>
      <p:sp>
        <p:nvSpPr>
          <p:cNvPr id="21" name="Rectangle 20"/>
          <p:cNvSpPr/>
          <p:nvPr/>
        </p:nvSpPr>
        <p:spPr>
          <a:xfrm>
            <a:off x="1280160" y="3429000"/>
            <a:ext cx="6583680" cy="548640"/>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63040" y="3538728"/>
            <a:ext cx="6217920" cy="365760"/>
          </a:xfrm>
          <a:prstGeom prst="rect">
            <a:avLst/>
          </a:prstGeom>
          <a:noFill/>
        </p:spPr>
        <p:txBody>
          <a:bodyPr wrap="square">
            <a:spAutoFit/>
          </a:bodyPr>
          <a:lstStyle/>
          <a:p>
            <a:pPr algn="l"/>
            <a:r>
              <a:rPr sz="1500" b="0">
                <a:solidFill>
                  <a:srgbClr val="1A1A1A"/>
                </a:solidFill>
                <a:latin typeface="Calibri"/>
              </a:rPr>
              <a:t>Correct placement on a pallet / rack</a:t>
            </a:r>
          </a:p>
        </p:txBody>
      </p:sp>
      <p:sp>
        <p:nvSpPr>
          <p:cNvPr id="23" name="Rectangle 22"/>
          <p:cNvSpPr/>
          <p:nvPr/>
        </p:nvSpPr>
        <p:spPr>
          <a:xfrm>
            <a:off x="502920" y="4160520"/>
            <a:ext cx="640080" cy="548640"/>
          </a:xfrm>
          <a:prstGeom prst="rect">
            <a:avLst/>
          </a:prstGeom>
          <a:solidFill>
            <a:srgbClr val="C47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251960"/>
            <a:ext cx="640080" cy="365760"/>
          </a:xfrm>
          <a:prstGeom prst="rect">
            <a:avLst/>
          </a:prstGeom>
          <a:noFill/>
        </p:spPr>
        <p:txBody>
          <a:bodyPr wrap="square">
            <a:spAutoFit/>
          </a:bodyPr>
          <a:lstStyle/>
          <a:p>
            <a:pPr algn="ctr"/>
            <a:r>
              <a:rPr sz="1800" b="1">
                <a:solidFill>
                  <a:srgbClr val="FFFFFF"/>
                </a:solidFill>
                <a:latin typeface="Calibri"/>
              </a:rPr>
              <a:t>5</a:t>
            </a:r>
          </a:p>
        </p:txBody>
      </p:sp>
      <p:sp>
        <p:nvSpPr>
          <p:cNvPr id="25" name="Rectangle 24"/>
          <p:cNvSpPr/>
          <p:nvPr/>
        </p:nvSpPr>
        <p:spPr>
          <a:xfrm>
            <a:off x="1280160" y="4160520"/>
            <a:ext cx="6583680" cy="548640"/>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63040" y="4270248"/>
            <a:ext cx="6217920" cy="365760"/>
          </a:xfrm>
          <a:prstGeom prst="rect">
            <a:avLst/>
          </a:prstGeom>
          <a:noFill/>
        </p:spPr>
        <p:txBody>
          <a:bodyPr wrap="square">
            <a:spAutoFit/>
          </a:bodyPr>
          <a:lstStyle/>
          <a:p>
            <a:pPr algn="l"/>
            <a:r>
              <a:rPr sz="1500" b="0">
                <a:solidFill>
                  <a:srgbClr val="1A1A1A"/>
                </a:solidFill>
                <a:latin typeface="Calibri"/>
              </a:rPr>
              <a:t>Proper protection using sheets, foam, cardboard or other suitable protection</a:t>
            </a:r>
          </a:p>
        </p:txBody>
      </p:sp>
      <p:sp>
        <p:nvSpPr>
          <p:cNvPr id="27" name="Rectangle 26"/>
          <p:cNvSpPr/>
          <p:nvPr/>
        </p:nvSpPr>
        <p:spPr>
          <a:xfrm>
            <a:off x="502920" y="4892040"/>
            <a:ext cx="640080" cy="548640"/>
          </a:xfrm>
          <a:prstGeom prst="rect">
            <a:avLst/>
          </a:prstGeom>
          <a:solidFill>
            <a:srgbClr val="C47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4983479"/>
            <a:ext cx="640080" cy="365760"/>
          </a:xfrm>
          <a:prstGeom prst="rect">
            <a:avLst/>
          </a:prstGeom>
          <a:noFill/>
        </p:spPr>
        <p:txBody>
          <a:bodyPr wrap="square">
            <a:spAutoFit/>
          </a:bodyPr>
          <a:lstStyle/>
          <a:p>
            <a:pPr algn="ctr"/>
            <a:r>
              <a:rPr sz="1800" b="1">
                <a:solidFill>
                  <a:srgbClr val="FFFFFF"/>
                </a:solidFill>
                <a:latin typeface="Calibri"/>
              </a:rPr>
              <a:t>6</a:t>
            </a:r>
          </a:p>
        </p:txBody>
      </p:sp>
      <p:sp>
        <p:nvSpPr>
          <p:cNvPr id="29" name="Rectangle 28"/>
          <p:cNvSpPr/>
          <p:nvPr/>
        </p:nvSpPr>
        <p:spPr>
          <a:xfrm>
            <a:off x="1280160" y="4892040"/>
            <a:ext cx="6583680" cy="548640"/>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463040" y="5001768"/>
            <a:ext cx="6217920" cy="365760"/>
          </a:xfrm>
          <a:prstGeom prst="rect">
            <a:avLst/>
          </a:prstGeom>
          <a:noFill/>
        </p:spPr>
        <p:txBody>
          <a:bodyPr wrap="square">
            <a:spAutoFit/>
          </a:bodyPr>
          <a:lstStyle/>
          <a:p>
            <a:pPr algn="l"/>
            <a:r>
              <a:rPr sz="1500" b="0">
                <a:solidFill>
                  <a:srgbClr val="1A1A1A"/>
                </a:solidFill>
                <a:latin typeface="Calibri"/>
              </a:rPr>
              <a:t>Correct method of reporting damaged material</a:t>
            </a:r>
          </a:p>
        </p:txBody>
      </p:sp>
      <p:sp>
        <p:nvSpPr>
          <p:cNvPr id="31" name="Rectangle 30"/>
          <p:cNvSpPr/>
          <p:nvPr/>
        </p:nvSpPr>
        <p:spPr>
          <a:xfrm>
            <a:off x="8138160" y="1234440"/>
            <a:ext cx="3566160" cy="4480560"/>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38160" y="3154680"/>
            <a:ext cx="3566160" cy="640080"/>
          </a:xfrm>
          <a:prstGeom prst="rect">
            <a:avLst/>
          </a:prstGeom>
          <a:noFill/>
        </p:spPr>
        <p:txBody>
          <a:bodyPr wrap="square">
            <a:spAutoFit/>
          </a:bodyPr>
          <a:lstStyle/>
          <a:p>
            <a:pPr algn="ctr"/>
            <a:r>
              <a:rPr sz="1200" b="0">
                <a:solidFill>
                  <a:srgbClr val="5A6A7A"/>
                </a:solidFill>
                <a:latin typeface="Calibri"/>
              </a:rPr>
              <a:t>[ Image Placeholder ]
Photo during live demonstration</a:t>
            </a:r>
          </a:p>
        </p:txBody>
      </p:sp>
      <p:sp>
        <p:nvSpPr>
          <p:cNvPr id="33" name="TextBox 32"/>
          <p:cNvSpPr txBox="1"/>
          <p:nvPr/>
        </p:nvSpPr>
        <p:spPr>
          <a:xfrm>
            <a:off x="457200" y="6492240"/>
            <a:ext cx="9144000" cy="274320"/>
          </a:xfrm>
          <a:prstGeom prst="rect">
            <a:avLst/>
          </a:prstGeom>
          <a:noFill/>
        </p:spPr>
        <p:txBody>
          <a:bodyPr wrap="square">
            <a:spAutoFit/>
          </a:bodyPr>
          <a:lstStyle/>
          <a:p>
            <a:pPr algn="l"/>
            <a:r>
              <a:rPr sz="1000" b="0">
                <a:solidFill>
                  <a:srgbClr val="5A6A7A"/>
                </a:solidFill>
                <a:latin typeface="Calibri"/>
              </a:rPr>
              <a:t>Fragile Items – Safe Handling &amp; Storage  |  Civil Team Toolbox Training</a:t>
            </a:r>
          </a:p>
        </p:txBody>
      </p:sp>
      <p:sp>
        <p:nvSpPr>
          <p:cNvPr id="34" name="TextBox 33"/>
          <p:cNvSpPr txBox="1"/>
          <p:nvPr/>
        </p:nvSpPr>
        <p:spPr>
          <a:xfrm>
            <a:off x="10515600" y="6492240"/>
            <a:ext cx="1371600" cy="274320"/>
          </a:xfrm>
          <a:prstGeom prst="rect">
            <a:avLst/>
          </a:prstGeom>
          <a:noFill/>
        </p:spPr>
        <p:txBody>
          <a:bodyPr wrap="square">
            <a:spAutoFit/>
          </a:bodyPr>
          <a:lstStyle/>
          <a:p>
            <a:pPr algn="r"/>
            <a:r>
              <a:rPr sz="1000" b="0">
                <a:solidFill>
                  <a:srgbClr val="5A6A7A"/>
                </a:solidFill>
                <a:latin typeface="Calibri"/>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73152"/>
          </a:xfrm>
          <a:prstGeom prst="rect">
            <a:avLst/>
          </a:prstGeom>
          <a:solidFill>
            <a:srgbClr val="C47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0972800" cy="457200"/>
          </a:xfrm>
          <a:prstGeom prst="rect">
            <a:avLst/>
          </a:prstGeom>
          <a:noFill/>
        </p:spPr>
        <p:txBody>
          <a:bodyPr wrap="square">
            <a:spAutoFit/>
          </a:bodyPr>
          <a:lstStyle/>
          <a:p>
            <a:pPr algn="l"/>
            <a:r>
              <a:rPr sz="2600" b="1">
                <a:solidFill>
                  <a:srgbClr val="FFFFFF"/>
                </a:solidFill>
                <a:latin typeface="Calibri"/>
              </a:rPr>
              <a:t>Key Takeaways</a:t>
            </a:r>
          </a:p>
        </p:txBody>
      </p:sp>
      <p:sp>
        <p:nvSpPr>
          <p:cNvPr id="6" name="TextBox 5"/>
          <p:cNvSpPr txBox="1"/>
          <p:nvPr/>
        </p:nvSpPr>
        <p:spPr>
          <a:xfrm>
            <a:off x="457200" y="594360"/>
            <a:ext cx="10972800" cy="320040"/>
          </a:xfrm>
          <a:prstGeom prst="rect">
            <a:avLst/>
          </a:prstGeom>
          <a:noFill/>
        </p:spPr>
        <p:txBody>
          <a:bodyPr wrap="square">
            <a:spAutoFit/>
          </a:bodyPr>
          <a:lstStyle/>
          <a:p>
            <a:pPr algn="l"/>
            <a:r>
              <a:rPr sz="1200" b="0">
                <a:solidFill>
                  <a:srgbClr val="C8D5E0"/>
                </a:solidFill>
                <a:latin typeface="Calibri"/>
              </a:rPr>
              <a:t>Remember before you leave</a:t>
            </a:r>
          </a:p>
        </p:txBody>
      </p:sp>
      <p:sp>
        <p:nvSpPr>
          <p:cNvPr id="7" name="Rectangle 6"/>
          <p:cNvSpPr/>
          <p:nvPr/>
        </p:nvSpPr>
        <p:spPr>
          <a:xfrm>
            <a:off x="502920" y="1234440"/>
            <a:ext cx="2011680" cy="68580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99032"/>
            <a:ext cx="2011680" cy="411480"/>
          </a:xfrm>
          <a:prstGeom prst="rect">
            <a:avLst/>
          </a:prstGeom>
          <a:noFill/>
        </p:spPr>
        <p:txBody>
          <a:bodyPr wrap="square">
            <a:spAutoFit/>
          </a:bodyPr>
          <a:lstStyle/>
          <a:p>
            <a:pPr algn="ctr"/>
            <a:r>
              <a:rPr sz="1600" b="1">
                <a:solidFill>
                  <a:srgbClr val="FFFFFF"/>
                </a:solidFill>
                <a:latin typeface="Calibri"/>
              </a:rPr>
              <a:t>Identify</a:t>
            </a:r>
          </a:p>
        </p:txBody>
      </p:sp>
      <p:sp>
        <p:nvSpPr>
          <p:cNvPr id="9" name="TextBox 8"/>
          <p:cNvSpPr txBox="1"/>
          <p:nvPr/>
        </p:nvSpPr>
        <p:spPr>
          <a:xfrm>
            <a:off x="2743200" y="1399032"/>
            <a:ext cx="8686800" cy="457200"/>
          </a:xfrm>
          <a:prstGeom prst="rect">
            <a:avLst/>
          </a:prstGeom>
          <a:noFill/>
        </p:spPr>
        <p:txBody>
          <a:bodyPr wrap="square">
            <a:spAutoFit/>
          </a:bodyPr>
          <a:lstStyle/>
          <a:p>
            <a:pPr algn="l"/>
            <a:r>
              <a:rPr sz="1600" b="0">
                <a:solidFill>
                  <a:srgbClr val="1A1A1A"/>
                </a:solidFill>
                <a:latin typeface="Calibri"/>
              </a:rPr>
              <a:t>Know which materials are fragile before you touch them.</a:t>
            </a:r>
          </a:p>
        </p:txBody>
      </p:sp>
      <p:sp>
        <p:nvSpPr>
          <p:cNvPr id="10" name="Rectangle 9"/>
          <p:cNvSpPr/>
          <p:nvPr/>
        </p:nvSpPr>
        <p:spPr>
          <a:xfrm>
            <a:off x="502920" y="2103120"/>
            <a:ext cx="2011680" cy="68580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267712"/>
            <a:ext cx="2011680" cy="411480"/>
          </a:xfrm>
          <a:prstGeom prst="rect">
            <a:avLst/>
          </a:prstGeom>
          <a:noFill/>
        </p:spPr>
        <p:txBody>
          <a:bodyPr wrap="square">
            <a:spAutoFit/>
          </a:bodyPr>
          <a:lstStyle/>
          <a:p>
            <a:pPr algn="ctr"/>
            <a:r>
              <a:rPr sz="1600" b="1">
                <a:solidFill>
                  <a:srgbClr val="FFFFFF"/>
                </a:solidFill>
                <a:latin typeface="Calibri"/>
              </a:rPr>
              <a:t>Handle</a:t>
            </a:r>
          </a:p>
        </p:txBody>
      </p:sp>
      <p:sp>
        <p:nvSpPr>
          <p:cNvPr id="12" name="TextBox 11"/>
          <p:cNvSpPr txBox="1"/>
          <p:nvPr/>
        </p:nvSpPr>
        <p:spPr>
          <a:xfrm>
            <a:off x="2743200" y="2267712"/>
            <a:ext cx="8686800" cy="457200"/>
          </a:xfrm>
          <a:prstGeom prst="rect">
            <a:avLst/>
          </a:prstGeom>
          <a:noFill/>
        </p:spPr>
        <p:txBody>
          <a:bodyPr wrap="square">
            <a:spAutoFit/>
          </a:bodyPr>
          <a:lstStyle/>
          <a:p>
            <a:pPr algn="l"/>
            <a:r>
              <a:rPr sz="1600" b="0">
                <a:solidFill>
                  <a:srgbClr val="1A1A1A"/>
                </a:solidFill>
                <a:latin typeface="Calibri"/>
              </a:rPr>
              <a:t>Inspect, use PPE, lift correctly — never drag or drop.</a:t>
            </a:r>
          </a:p>
        </p:txBody>
      </p:sp>
      <p:sp>
        <p:nvSpPr>
          <p:cNvPr id="13" name="Rectangle 12"/>
          <p:cNvSpPr/>
          <p:nvPr/>
        </p:nvSpPr>
        <p:spPr>
          <a:xfrm>
            <a:off x="502920" y="2971800"/>
            <a:ext cx="2011680" cy="68580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136392"/>
            <a:ext cx="2011680" cy="411480"/>
          </a:xfrm>
          <a:prstGeom prst="rect">
            <a:avLst/>
          </a:prstGeom>
          <a:noFill/>
        </p:spPr>
        <p:txBody>
          <a:bodyPr wrap="square">
            <a:spAutoFit/>
          </a:bodyPr>
          <a:lstStyle/>
          <a:p>
            <a:pPr algn="ctr"/>
            <a:r>
              <a:rPr sz="1600" b="1">
                <a:solidFill>
                  <a:srgbClr val="FFFFFF"/>
                </a:solidFill>
                <a:latin typeface="Calibri"/>
              </a:rPr>
              <a:t>Move</a:t>
            </a:r>
          </a:p>
        </p:txBody>
      </p:sp>
      <p:sp>
        <p:nvSpPr>
          <p:cNvPr id="15" name="TextBox 14"/>
          <p:cNvSpPr txBox="1"/>
          <p:nvPr/>
        </p:nvSpPr>
        <p:spPr>
          <a:xfrm>
            <a:off x="2743200" y="3136392"/>
            <a:ext cx="8686800" cy="457200"/>
          </a:xfrm>
          <a:prstGeom prst="rect">
            <a:avLst/>
          </a:prstGeom>
          <a:noFill/>
        </p:spPr>
        <p:txBody>
          <a:bodyPr wrap="square">
            <a:spAutoFit/>
          </a:bodyPr>
          <a:lstStyle/>
          <a:p>
            <a:pPr algn="l"/>
            <a:r>
              <a:rPr sz="1600" b="0">
                <a:solidFill>
                  <a:srgbClr val="1A1A1A"/>
                </a:solidFill>
                <a:latin typeface="Calibri"/>
              </a:rPr>
              <a:t>Plan the route, secure the load, move steadily.</a:t>
            </a:r>
          </a:p>
        </p:txBody>
      </p:sp>
      <p:sp>
        <p:nvSpPr>
          <p:cNvPr id="16" name="Rectangle 15"/>
          <p:cNvSpPr/>
          <p:nvPr/>
        </p:nvSpPr>
        <p:spPr>
          <a:xfrm>
            <a:off x="502920" y="3840479"/>
            <a:ext cx="2011680" cy="68580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4005071"/>
            <a:ext cx="2011680" cy="411480"/>
          </a:xfrm>
          <a:prstGeom prst="rect">
            <a:avLst/>
          </a:prstGeom>
          <a:noFill/>
        </p:spPr>
        <p:txBody>
          <a:bodyPr wrap="square">
            <a:spAutoFit/>
          </a:bodyPr>
          <a:lstStyle/>
          <a:p>
            <a:pPr algn="ctr"/>
            <a:r>
              <a:rPr sz="1600" b="1">
                <a:solidFill>
                  <a:srgbClr val="FFFFFF"/>
                </a:solidFill>
                <a:latin typeface="Calibri"/>
              </a:rPr>
              <a:t>Store</a:t>
            </a:r>
          </a:p>
        </p:txBody>
      </p:sp>
      <p:sp>
        <p:nvSpPr>
          <p:cNvPr id="18" name="TextBox 17"/>
          <p:cNvSpPr txBox="1"/>
          <p:nvPr/>
        </p:nvSpPr>
        <p:spPr>
          <a:xfrm>
            <a:off x="2743200" y="4005071"/>
            <a:ext cx="8686800" cy="457200"/>
          </a:xfrm>
          <a:prstGeom prst="rect">
            <a:avLst/>
          </a:prstGeom>
          <a:noFill/>
        </p:spPr>
        <p:txBody>
          <a:bodyPr wrap="square">
            <a:spAutoFit/>
          </a:bodyPr>
          <a:lstStyle/>
          <a:p>
            <a:pPr algn="l"/>
            <a:r>
              <a:rPr sz="1600" b="0">
                <a:solidFill>
                  <a:srgbClr val="1A1A1A"/>
                </a:solidFill>
                <a:latin typeface="Calibri"/>
              </a:rPr>
              <a:t>Designated area, stable base, heavy at bottom, protect from damage.</a:t>
            </a:r>
          </a:p>
        </p:txBody>
      </p:sp>
      <p:sp>
        <p:nvSpPr>
          <p:cNvPr id="19" name="Rectangle 18"/>
          <p:cNvSpPr/>
          <p:nvPr/>
        </p:nvSpPr>
        <p:spPr>
          <a:xfrm>
            <a:off x="502920" y="4709160"/>
            <a:ext cx="2011680" cy="68580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4873752"/>
            <a:ext cx="2011680" cy="411480"/>
          </a:xfrm>
          <a:prstGeom prst="rect">
            <a:avLst/>
          </a:prstGeom>
          <a:noFill/>
        </p:spPr>
        <p:txBody>
          <a:bodyPr wrap="square">
            <a:spAutoFit/>
          </a:bodyPr>
          <a:lstStyle/>
          <a:p>
            <a:pPr algn="ctr"/>
            <a:r>
              <a:rPr sz="1600" b="1">
                <a:solidFill>
                  <a:srgbClr val="FFFFFF"/>
                </a:solidFill>
                <a:latin typeface="Calibri"/>
              </a:rPr>
              <a:t>Report</a:t>
            </a:r>
          </a:p>
        </p:txBody>
      </p:sp>
      <p:sp>
        <p:nvSpPr>
          <p:cNvPr id="21" name="TextBox 20"/>
          <p:cNvSpPr txBox="1"/>
          <p:nvPr/>
        </p:nvSpPr>
        <p:spPr>
          <a:xfrm>
            <a:off x="2743200" y="4873752"/>
            <a:ext cx="8686800" cy="457200"/>
          </a:xfrm>
          <a:prstGeom prst="rect">
            <a:avLst/>
          </a:prstGeom>
          <a:noFill/>
        </p:spPr>
        <p:txBody>
          <a:bodyPr wrap="square">
            <a:spAutoFit/>
          </a:bodyPr>
          <a:lstStyle/>
          <a:p>
            <a:pPr algn="l"/>
            <a:r>
              <a:rPr sz="1600" b="0">
                <a:solidFill>
                  <a:srgbClr val="1A1A1A"/>
                </a:solidFill>
                <a:latin typeface="Calibri"/>
              </a:rPr>
              <a:t>Any damage must be reported immediately — do not hide it.</a:t>
            </a:r>
          </a:p>
        </p:txBody>
      </p:sp>
      <p:sp>
        <p:nvSpPr>
          <p:cNvPr id="22" name="TextBox 21"/>
          <p:cNvSpPr txBox="1"/>
          <p:nvPr/>
        </p:nvSpPr>
        <p:spPr>
          <a:xfrm>
            <a:off x="457200" y="6492240"/>
            <a:ext cx="9144000" cy="274320"/>
          </a:xfrm>
          <a:prstGeom prst="rect">
            <a:avLst/>
          </a:prstGeom>
          <a:noFill/>
        </p:spPr>
        <p:txBody>
          <a:bodyPr wrap="square">
            <a:spAutoFit/>
          </a:bodyPr>
          <a:lstStyle/>
          <a:p>
            <a:pPr algn="l"/>
            <a:r>
              <a:rPr sz="1000" b="0">
                <a:solidFill>
                  <a:srgbClr val="5A6A7A"/>
                </a:solidFill>
                <a:latin typeface="Calibri"/>
              </a:rPr>
              <a:t>Fragile Items – Safe Handling &amp; Storage  |  Civil Team Toolbox Training</a:t>
            </a:r>
          </a:p>
        </p:txBody>
      </p:sp>
      <p:sp>
        <p:nvSpPr>
          <p:cNvPr id="23" name="TextBox 22"/>
          <p:cNvSpPr txBox="1"/>
          <p:nvPr/>
        </p:nvSpPr>
        <p:spPr>
          <a:xfrm>
            <a:off x="10515600" y="6492240"/>
            <a:ext cx="1371600" cy="274320"/>
          </a:xfrm>
          <a:prstGeom prst="rect">
            <a:avLst/>
          </a:prstGeom>
          <a:noFill/>
        </p:spPr>
        <p:txBody>
          <a:bodyPr wrap="square">
            <a:spAutoFit/>
          </a:bodyPr>
          <a:lstStyle/>
          <a:p>
            <a:pPr algn="r"/>
            <a:r>
              <a:rPr sz="1000" b="0">
                <a:solidFill>
                  <a:srgbClr val="5A6A7A"/>
                </a:solidFill>
                <a:latin typeface="Calibri"/>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645920"/>
            <a:ext cx="10698480" cy="3291840"/>
          </a:xfrm>
          <a:prstGeom prst="rect">
            <a:avLst/>
          </a:prstGeom>
          <a:solidFill>
            <a:srgbClr val="1F3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9966960" cy="365760"/>
          </a:xfrm>
          <a:prstGeom prst="rect">
            <a:avLst/>
          </a:prstGeom>
          <a:noFill/>
        </p:spPr>
        <p:txBody>
          <a:bodyPr wrap="square">
            <a:spAutoFit/>
          </a:bodyPr>
          <a:lstStyle/>
          <a:p>
            <a:pPr algn="ctr"/>
            <a:r>
              <a:rPr sz="1400" b="1">
                <a:solidFill>
                  <a:srgbClr val="C47B2D"/>
                </a:solidFill>
                <a:latin typeface="Calibri"/>
              </a:rPr>
              <a:t>CLOSING MESSAGE</a:t>
            </a:r>
          </a:p>
        </p:txBody>
      </p:sp>
      <p:sp>
        <p:nvSpPr>
          <p:cNvPr id="6" name="TextBox 5"/>
          <p:cNvSpPr txBox="1"/>
          <p:nvPr/>
        </p:nvSpPr>
        <p:spPr>
          <a:xfrm>
            <a:off x="1188720" y="2468880"/>
            <a:ext cx="9784080" cy="2011680"/>
          </a:xfrm>
          <a:prstGeom prst="rect">
            <a:avLst/>
          </a:prstGeom>
          <a:noFill/>
        </p:spPr>
        <p:txBody>
          <a:bodyPr wrap="square">
            <a:spAutoFit/>
          </a:bodyPr>
          <a:lstStyle/>
          <a:p>
            <a:pPr algn="ctr"/>
            <a:r>
              <a:rPr sz="2200" b="1">
                <a:solidFill>
                  <a:srgbClr val="FFFFFF"/>
                </a:solidFill>
                <a:latin typeface="Calibri"/>
              </a:rPr>
              <a:t>Handle every fragile item as if it is already installed.
One careless movement can cause material damage,
rework, additional cost and safety risks.</a:t>
            </a:r>
          </a:p>
        </p:txBody>
      </p:sp>
      <p:sp>
        <p:nvSpPr>
          <p:cNvPr id="7" name="TextBox 6"/>
          <p:cNvSpPr txBox="1"/>
          <p:nvPr/>
        </p:nvSpPr>
        <p:spPr>
          <a:xfrm>
            <a:off x="914400" y="5669280"/>
            <a:ext cx="10332720" cy="365760"/>
          </a:xfrm>
          <a:prstGeom prst="rect">
            <a:avLst/>
          </a:prstGeom>
          <a:noFill/>
        </p:spPr>
        <p:txBody>
          <a:bodyPr wrap="square">
            <a:spAutoFit/>
          </a:bodyPr>
          <a:lstStyle/>
          <a:p>
            <a:pPr algn="ctr"/>
            <a:r>
              <a:rPr sz="1400" b="0">
                <a:solidFill>
                  <a:srgbClr val="C8D5E0"/>
                </a:solidFill>
                <a:latin typeface="Calibri"/>
              </a:rPr>
              <a:t>Civil Team  •  Toolbox Training  •  Safe Handling &amp; Storage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73152"/>
          </a:xfrm>
          <a:prstGeom prst="rect">
            <a:avLst/>
          </a:prstGeom>
          <a:solidFill>
            <a:srgbClr val="C47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1168"/>
            <a:ext cx="10972800" cy="457200"/>
          </a:xfrm>
          <a:prstGeom prst="rect">
            <a:avLst/>
          </a:prstGeom>
          <a:noFill/>
        </p:spPr>
        <p:txBody>
          <a:bodyPr wrap="square">
            <a:spAutoFit/>
          </a:bodyPr>
          <a:lstStyle/>
          <a:p>
            <a:pPr algn="l"/>
            <a:r>
              <a:rPr sz="2600" b="1">
                <a:solidFill>
                  <a:srgbClr val="FFFFFF"/>
                </a:solidFill>
                <a:latin typeface="Calibri"/>
              </a:rPr>
              <a:t>Questions &amp; Feedback</a:t>
            </a:r>
          </a:p>
        </p:txBody>
      </p:sp>
      <p:sp>
        <p:nvSpPr>
          <p:cNvPr id="6" name="TextBox 5"/>
          <p:cNvSpPr txBox="1"/>
          <p:nvPr/>
        </p:nvSpPr>
        <p:spPr>
          <a:xfrm>
            <a:off x="457200" y="594360"/>
            <a:ext cx="10972800" cy="320040"/>
          </a:xfrm>
          <a:prstGeom prst="rect">
            <a:avLst/>
          </a:prstGeom>
          <a:noFill/>
        </p:spPr>
        <p:txBody>
          <a:bodyPr wrap="square">
            <a:spAutoFit/>
          </a:bodyPr>
          <a:lstStyle/>
          <a:p>
            <a:pPr algn="l"/>
            <a:r>
              <a:rPr sz="1200" b="0">
                <a:solidFill>
                  <a:srgbClr val="C8D5E0"/>
                </a:solidFill>
                <a:latin typeface="Calibri"/>
              </a:rPr>
              <a:t>5 minutes</a:t>
            </a:r>
          </a:p>
        </p:txBody>
      </p:sp>
      <p:sp>
        <p:nvSpPr>
          <p:cNvPr id="7" name="TextBox 6"/>
          <p:cNvSpPr txBox="1"/>
          <p:nvPr/>
        </p:nvSpPr>
        <p:spPr>
          <a:xfrm>
            <a:off x="731520" y="2011680"/>
            <a:ext cx="10515600" cy="914400"/>
          </a:xfrm>
          <a:prstGeom prst="rect">
            <a:avLst/>
          </a:prstGeom>
          <a:noFill/>
        </p:spPr>
        <p:txBody>
          <a:bodyPr wrap="square">
            <a:spAutoFit/>
          </a:bodyPr>
          <a:lstStyle/>
          <a:p>
            <a:pPr algn="ctr"/>
            <a:r>
              <a:rPr sz="2800" b="1">
                <a:solidFill>
                  <a:srgbClr val="0F2A44"/>
                </a:solidFill>
                <a:latin typeface="Calibri"/>
              </a:rPr>
              <a:t>Any questions from the Civil Team?</a:t>
            </a:r>
          </a:p>
        </p:txBody>
      </p:sp>
      <p:sp>
        <p:nvSpPr>
          <p:cNvPr id="8" name="TextBox 7"/>
          <p:cNvSpPr txBox="1"/>
          <p:nvPr/>
        </p:nvSpPr>
        <p:spPr>
          <a:xfrm>
            <a:off x="1371600" y="3108960"/>
            <a:ext cx="9144000" cy="1097280"/>
          </a:xfrm>
          <a:prstGeom prst="rect">
            <a:avLst/>
          </a:prstGeom>
          <a:noFill/>
        </p:spPr>
        <p:txBody>
          <a:bodyPr wrap="square">
            <a:spAutoFit/>
          </a:bodyPr>
          <a:lstStyle/>
          <a:p>
            <a:pPr algn="ctr"/>
            <a:r>
              <a:rPr sz="1600" b="0">
                <a:solidFill>
                  <a:srgbClr val="1F3A56"/>
                </a:solidFill>
                <a:latin typeface="Calibri"/>
              </a:rPr>
              <a:t>Share site examples, near-misses or concerns related to fragile material handling.
Trainer to record attendance and feedback.</a:t>
            </a:r>
          </a:p>
        </p:txBody>
      </p:sp>
      <p:sp>
        <p:nvSpPr>
          <p:cNvPr id="9" name="Rectangle 8"/>
          <p:cNvSpPr/>
          <p:nvPr/>
        </p:nvSpPr>
        <p:spPr>
          <a:xfrm>
            <a:off x="3200400" y="4389120"/>
            <a:ext cx="5760720" cy="1554480"/>
          </a:xfrm>
          <a:prstGeom prst="rect">
            <a:avLst/>
          </a:prstGeom>
          <a:solidFill>
            <a:srgbClr val="F4F6F8"/>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0" y="4846320"/>
            <a:ext cx="5760720" cy="640080"/>
          </a:xfrm>
          <a:prstGeom prst="rect">
            <a:avLst/>
          </a:prstGeom>
          <a:noFill/>
        </p:spPr>
        <p:txBody>
          <a:bodyPr wrap="square">
            <a:spAutoFit/>
          </a:bodyPr>
          <a:lstStyle/>
          <a:p>
            <a:pPr algn="ctr"/>
            <a:r>
              <a:rPr sz="1200" b="0">
                <a:solidFill>
                  <a:srgbClr val="5A6A7A"/>
                </a:solidFill>
                <a:latin typeface="Calibri"/>
              </a:rPr>
              <a:t>[ Image Placeholder ]
Optional: attendance / team photo</a:t>
            </a:r>
          </a:p>
        </p:txBody>
      </p:sp>
      <p:sp>
        <p:nvSpPr>
          <p:cNvPr id="11" name="TextBox 10"/>
          <p:cNvSpPr txBox="1"/>
          <p:nvPr/>
        </p:nvSpPr>
        <p:spPr>
          <a:xfrm>
            <a:off x="457200" y="6492240"/>
            <a:ext cx="9144000" cy="274320"/>
          </a:xfrm>
          <a:prstGeom prst="rect">
            <a:avLst/>
          </a:prstGeom>
          <a:noFill/>
        </p:spPr>
        <p:txBody>
          <a:bodyPr wrap="square">
            <a:spAutoFit/>
          </a:bodyPr>
          <a:lstStyle/>
          <a:p>
            <a:pPr algn="l"/>
            <a:r>
              <a:rPr sz="1000" b="0">
                <a:solidFill>
                  <a:srgbClr val="5A6A7A"/>
                </a:solidFill>
                <a:latin typeface="Calibri"/>
              </a:rPr>
              <a:t>Fragile Items – Safe Handling &amp; Storage  |  Civil Team Toolbox Training</a:t>
            </a:r>
          </a:p>
        </p:txBody>
      </p:sp>
      <p:sp>
        <p:nvSpPr>
          <p:cNvPr id="12" name="TextBox 11"/>
          <p:cNvSpPr txBox="1"/>
          <p:nvPr/>
        </p:nvSpPr>
        <p:spPr>
          <a:xfrm>
            <a:off x="10515600" y="6492240"/>
            <a:ext cx="1371600" cy="274320"/>
          </a:xfrm>
          <a:prstGeom prst="rect">
            <a:avLst/>
          </a:prstGeom>
          <a:noFill/>
        </p:spPr>
        <p:txBody>
          <a:bodyPr wrap="square">
            <a:spAutoFit/>
          </a:bodyPr>
          <a:lstStyle/>
          <a:p>
            <a:pPr algn="r"/>
            <a:r>
              <a:rPr sz="1000" b="0">
                <a:solidFill>
                  <a:srgbClr val="5A6A7A"/>
                </a:solidFill>
                <a:latin typeface="Calibri"/>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